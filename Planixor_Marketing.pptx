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4" r:id="rId8"/>
    <p:sldId id="262" r:id="rId9"/>
    <p:sldId id="275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FBF8"/>
    <a:srgbClr val="E8EAEF"/>
    <a:srgbClr val="FBFB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42" d="100"/>
          <a:sy n="142" d="100"/>
        </p:scale>
        <p:origin x="92" y="31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Calibri"/>
              </a:defRPr>
            </a:pPr>
            <a:r>
              <a:rPr lang="es-ES" noProof="0" dirty="0"/>
              <a:t>Planixor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9144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9CA3AF"/>
                </a:solidFill>
                <a:latin typeface="Calibri"/>
              </a:defRPr>
            </a:pPr>
            <a:r>
              <a:rPr lang="es-ES" noProof="0" dirty="0"/>
              <a:t>Organiza tu tiempo. Potencia tu día.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B86D4"/>
                </a:solidFill>
                <a:latin typeface="Calibri"/>
              </a:defRPr>
            </a:pPr>
            <a:r>
              <a:rPr lang="es-ES" noProof="0" dirty="0"/>
              <a:t>Tu calendario. Tus eventos. Tu control.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943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Calibri"/>
              </a:defRPr>
            </a:pPr>
            <a:r>
              <a:rPr lang="es-ES" noProof="0" dirty="0" err="1"/>
              <a:t>by</a:t>
            </a:r>
            <a:r>
              <a:rPr lang="es-ES" noProof="0" dirty="0"/>
              <a:t> </a:t>
            </a:r>
            <a:r>
              <a:rPr lang="es-ES" noProof="0" dirty="0" err="1"/>
              <a:t>Codenized</a:t>
            </a:r>
            <a:endParaRPr lang="es-ES" noProof="0" dirty="0"/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EE0A5D11-33CC-9F3A-CFF9-FB4CA57E83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33604" y="944880"/>
            <a:ext cx="4876800" cy="4876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A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>
            <a:extLst>
              <a:ext uri="{FF2B5EF4-FFF2-40B4-BE49-F238E27FC236}">
                <a16:creationId xmlns:a16="http://schemas.microsoft.com/office/drawing/2014/main" id="{3BBE09A4-2033-C934-C90E-053935FF355B}"/>
              </a:ext>
            </a:extLst>
          </p:cNvPr>
          <p:cNvSpPr/>
          <p:nvPr/>
        </p:nvSpPr>
        <p:spPr>
          <a:xfrm>
            <a:off x="5846062" y="54864"/>
            <a:ext cx="6332871" cy="6803136"/>
          </a:xfrm>
          <a:prstGeom prst="rect">
            <a:avLst/>
          </a:prstGeom>
          <a:solidFill>
            <a:srgbClr val="FB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C75FD189-F612-0FA4-E4D9-BAF08C1FAF1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54" b="3249"/>
          <a:stretch>
            <a:fillRect/>
          </a:stretch>
        </p:blipFill>
        <p:spPr>
          <a:xfrm>
            <a:off x="1037002" y="758588"/>
            <a:ext cx="9644255" cy="61014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-28703" y="109728"/>
            <a:ext cx="122203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B86D4"/>
                </a:solidFill>
                <a:latin typeface="Calibri"/>
              </a:defRPr>
            </a:pPr>
            <a:r>
              <a:rPr lang="es-ES" sz="2400" noProof="0" dirty="0"/>
              <a:t>Los profesionales necesitan una herramienta unificada, privada y que funcione siempre.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rPr lang="es-ES" noProof="0" dirty="0"/>
              <a:t>La Solución: Planixor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9FAFB"/>
                </a:solidFill>
                <a:latin typeface="Calibri"/>
              </a:defRPr>
            </a:pPr>
            <a:r>
              <a:rPr lang="es-ES" noProof="0" dirty="0"/>
              <a:t>Una aplicación unificada de gestión de turnos y horarios que funciona 100% offline, con sincronización opcional </a:t>
            </a:r>
            <a:r>
              <a:rPr lang="es-ES" noProof="0" dirty="0" err="1"/>
              <a:t>auto-hospedada</a:t>
            </a:r>
            <a:r>
              <a:rPr lang="es-ES" noProof="0" dirty="0"/>
              <a:t>. Tus datos, tu control.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10058400" cy="2267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9FAFB"/>
                </a:solidFill>
                <a:latin typeface="Calibri"/>
              </a:defRPr>
            </a:pPr>
            <a:r>
              <a:rPr lang="es-ES" noProof="0" dirty="0"/>
              <a:t>Offline-First: funciona completamente sin internet</a:t>
            </a:r>
          </a:p>
          <a:p>
            <a:pPr>
              <a:spcAft>
                <a:spcPts val="800"/>
              </a:spcAft>
              <a:defRPr sz="1800">
                <a:solidFill>
                  <a:srgbClr val="F9FAFB"/>
                </a:solidFill>
                <a:latin typeface="Calibri"/>
              </a:defRPr>
            </a:pPr>
            <a:r>
              <a:rPr lang="es-ES" noProof="0" dirty="0"/>
              <a:t>Privacidad total: datos almacenados solo en tu dispositivo</a:t>
            </a:r>
          </a:p>
          <a:p>
            <a:pPr>
              <a:spcAft>
                <a:spcPts val="800"/>
              </a:spcAft>
              <a:defRPr sz="1800">
                <a:solidFill>
                  <a:srgbClr val="F9FAFB"/>
                </a:solidFill>
                <a:latin typeface="Calibri"/>
              </a:defRPr>
            </a:pPr>
            <a:r>
              <a:rPr lang="es-ES" noProof="0" dirty="0"/>
              <a:t>Sincronización opcional: tu propio servidor, tus reglas</a:t>
            </a:r>
          </a:p>
          <a:p>
            <a:pPr>
              <a:spcAft>
                <a:spcPts val="800"/>
              </a:spcAft>
              <a:defRPr sz="1800">
                <a:solidFill>
                  <a:srgbClr val="F9FAFB"/>
                </a:solidFill>
                <a:latin typeface="Calibri"/>
              </a:defRPr>
            </a:pPr>
            <a:r>
              <a:rPr lang="es-ES" noProof="0" dirty="0"/>
              <a:t>Multiplataforma: Web PWA + Android nativo</a:t>
            </a:r>
          </a:p>
          <a:p>
            <a:pPr>
              <a:spcAft>
                <a:spcPts val="800"/>
              </a:spcAft>
              <a:defRPr sz="1800">
                <a:solidFill>
                  <a:srgbClr val="F9FAFB"/>
                </a:solidFill>
                <a:latin typeface="Calibri"/>
              </a:defRPr>
            </a:pPr>
            <a:r>
              <a:rPr lang="es-ES" noProof="0" dirty="0"/>
              <a:t>Interfaz moderna y limpia con modo claro/oscuro</a:t>
            </a:r>
          </a:p>
          <a:p>
            <a:pPr>
              <a:spcAft>
                <a:spcPts val="800"/>
              </a:spcAft>
              <a:defRPr sz="1800">
                <a:solidFill>
                  <a:srgbClr val="F9FAFB"/>
                </a:solidFill>
                <a:latin typeface="Calibri"/>
              </a:defRPr>
            </a:pPr>
            <a:r>
              <a:rPr lang="es-ES" noProof="0" dirty="0"/>
              <a:t>Bilingüe desde el primer día: Español e Ingles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092ADD8B-87E1-7F16-C30A-9C6351E2C4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3776" y="2863160"/>
            <a:ext cx="4466343" cy="348228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rPr lang="es-ES" noProof="0" dirty="0"/>
              <a:t>Funcionalidades Principales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463040"/>
            <a:ext cx="548640" cy="5486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/>
            </a:pPr>
            <a:r>
              <a:rPr lang="es-ES" noProof="0" dirty="0"/>
              <a:t>🗓️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463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9FAFB"/>
                </a:solidFill>
                <a:latin typeface="Calibri"/>
              </a:defRPr>
            </a:pPr>
            <a:r>
              <a:rPr lang="es-ES" noProof="0" dirty="0"/>
              <a:t>Calendario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783080"/>
            <a:ext cx="3200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Calibri"/>
              </a:defRPr>
            </a:pPr>
            <a:r>
              <a:rPr lang="es-ES" noProof="0" dirty="0"/>
              <a:t>Vistas Dia/Semana/Mes/Año con navegación intuitiva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3108960"/>
            <a:ext cx="548640" cy="5486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/>
            </a:pPr>
            <a:r>
              <a:rPr lang="es-ES" noProof="0" dirty="0"/>
              <a:t>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31089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9FAFB"/>
                </a:solidFill>
                <a:latin typeface="Calibri"/>
              </a:defRPr>
            </a:pPr>
            <a:r>
              <a:rPr lang="es-ES" noProof="0" dirty="0"/>
              <a:t>Turnos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34290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Calibri"/>
              </a:defRPr>
            </a:pPr>
            <a:r>
              <a:rPr lang="es-ES" noProof="0" dirty="0"/>
              <a:t>Plantillas reutilizables con colores, emojis e iconos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4754880"/>
            <a:ext cx="548640" cy="5486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/>
            </a:pPr>
            <a:r>
              <a:rPr lang="es-ES" noProof="0" dirty="0"/>
              <a:t>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4754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9FAFB"/>
                </a:solidFill>
                <a:latin typeface="Calibri"/>
              </a:defRPr>
            </a:pPr>
            <a:r>
              <a:rPr lang="es-ES" noProof="0" dirty="0"/>
              <a:t>Recordatorios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5074920"/>
            <a:ext cx="3200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Calibri"/>
              </a:defRPr>
            </a:pPr>
            <a:r>
              <a:rPr lang="es-ES" noProof="0" dirty="0"/>
              <a:t>Plantillas para eventos recurrentes y tareas</a:t>
            </a:r>
          </a:p>
        </p:txBody>
      </p:sp>
      <p:sp>
        <p:nvSpPr>
          <p:cNvPr id="13" name="Oval 12"/>
          <p:cNvSpPr/>
          <p:nvPr/>
        </p:nvSpPr>
        <p:spPr>
          <a:xfrm>
            <a:off x="6217920" y="146304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/>
            </a:pPr>
            <a:r>
              <a:rPr lang="es-ES" noProof="0" dirty="0"/>
              <a:t>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1463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9FAFB"/>
                </a:solidFill>
                <a:latin typeface="Calibri"/>
              </a:defRPr>
            </a:pPr>
            <a:r>
              <a:rPr lang="es-ES" noProof="0" dirty="0"/>
              <a:t>Eventos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17830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Calibri"/>
              </a:defRPr>
            </a:pPr>
            <a:r>
              <a:rPr lang="es-ES" noProof="0" dirty="0"/>
              <a:t>Eventos vinculados a turnos o recordatorios</a:t>
            </a:r>
          </a:p>
        </p:txBody>
      </p:sp>
      <p:sp>
        <p:nvSpPr>
          <p:cNvPr id="16" name="Oval 15"/>
          <p:cNvSpPr/>
          <p:nvPr/>
        </p:nvSpPr>
        <p:spPr>
          <a:xfrm>
            <a:off x="6217920" y="310896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/>
            </a:pPr>
            <a:r>
              <a:rPr lang="es-ES" noProof="0" dirty="0"/>
              <a:t>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31089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9FAFB"/>
                </a:solidFill>
                <a:latin typeface="Calibri"/>
              </a:defRPr>
            </a:pPr>
            <a:r>
              <a:rPr lang="es-ES" noProof="0" dirty="0"/>
              <a:t>Informes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3429000"/>
            <a:ext cx="3200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Calibri"/>
              </a:defRPr>
            </a:pPr>
            <a:r>
              <a:rPr lang="es-ES" noProof="0" dirty="0"/>
              <a:t>Estadísticas visuales de horas trabajadas</a:t>
            </a:r>
          </a:p>
        </p:txBody>
      </p:sp>
      <p:sp>
        <p:nvSpPr>
          <p:cNvPr id="19" name="Oval 18"/>
          <p:cNvSpPr/>
          <p:nvPr/>
        </p:nvSpPr>
        <p:spPr>
          <a:xfrm>
            <a:off x="6217920" y="475488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/>
            </a:pPr>
            <a:r>
              <a:rPr lang="es-ES" noProof="0" dirty="0"/>
              <a:t>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4754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9FAFB"/>
                </a:solidFill>
                <a:latin typeface="Calibri"/>
              </a:defRPr>
            </a:pPr>
            <a:r>
              <a:rPr lang="es-ES" noProof="0" dirty="0"/>
              <a:t>Notificaciones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50749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Calibri"/>
              </a:defRPr>
            </a:pPr>
            <a:r>
              <a:rPr lang="es-ES" noProof="0" dirty="0"/>
              <a:t>Alertas configurables: inicio, 10min, 1h, 1dia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rPr lang="es-ES" noProof="0" dirty="0"/>
              <a:t>Calendario Inteligente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CA3AF"/>
                </a:solidFill>
                <a:latin typeface="Calibri"/>
              </a:defRPr>
            </a:pPr>
            <a:r>
              <a:rPr lang="es-ES" noProof="0" dirty="0"/>
              <a:t>Tu horario completo en una sola vista, con 4 modos de visualización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058400" cy="3447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9FAFB"/>
                </a:solidFill>
                <a:latin typeface="Calibri"/>
              </a:defRPr>
            </a:pPr>
            <a:r>
              <a:rPr lang="es-ES" noProof="0" dirty="0"/>
              <a:t>Vista Dia: Línea de tiempo vertical con indicador de hora actual (estilo Google Calendar)</a:t>
            </a:r>
          </a:p>
          <a:p>
            <a:pPr>
              <a:spcAft>
                <a:spcPts val="800"/>
              </a:spcAft>
              <a:defRPr sz="1600">
                <a:solidFill>
                  <a:srgbClr val="F9FAFB"/>
                </a:solidFill>
                <a:latin typeface="Calibri"/>
              </a:defRPr>
            </a:pPr>
            <a:r>
              <a:rPr lang="es-ES" noProof="0" dirty="0"/>
              <a:t>Vista Semana: Cuadricula de 7 días con bloques de eventos por hora</a:t>
            </a:r>
          </a:p>
          <a:p>
            <a:pPr>
              <a:spcAft>
                <a:spcPts val="800"/>
              </a:spcAft>
              <a:defRPr sz="1600">
                <a:solidFill>
                  <a:srgbClr val="F9FAFB"/>
                </a:solidFill>
                <a:latin typeface="Calibri"/>
              </a:defRPr>
            </a:pPr>
            <a:r>
              <a:rPr lang="es-ES" noProof="0" dirty="0"/>
              <a:t>Vista Mes: Vista mensual con indicadores de color por día</a:t>
            </a:r>
          </a:p>
          <a:p>
            <a:pPr>
              <a:spcAft>
                <a:spcPts val="800"/>
              </a:spcAft>
              <a:defRPr sz="1600">
                <a:solidFill>
                  <a:srgbClr val="F9FAFB"/>
                </a:solidFill>
                <a:latin typeface="Calibri"/>
              </a:defRPr>
            </a:pPr>
            <a:r>
              <a:rPr lang="es-ES" noProof="0" dirty="0"/>
              <a:t>Vista Año: Panorama anual compacto para planificación a largo plazo</a:t>
            </a:r>
          </a:p>
          <a:p>
            <a:pPr>
              <a:spcAft>
                <a:spcPts val="800"/>
              </a:spcAft>
              <a:defRPr sz="1600">
                <a:solidFill>
                  <a:srgbClr val="F9FAFB"/>
                </a:solidFill>
                <a:latin typeface="Calibri"/>
              </a:defRPr>
            </a:pPr>
            <a:r>
              <a:rPr lang="es-ES" noProof="0" dirty="0"/>
              <a:t>Navegación rápida con flechas y botón 'Hoy'</a:t>
            </a:r>
          </a:p>
          <a:p>
            <a:pPr>
              <a:spcAft>
                <a:spcPts val="800"/>
              </a:spcAft>
              <a:defRPr sz="1600">
                <a:solidFill>
                  <a:srgbClr val="F9FAFB"/>
                </a:solidFill>
                <a:latin typeface="Calibri"/>
              </a:defRPr>
            </a:pPr>
            <a:r>
              <a:rPr lang="es-ES" noProof="0" dirty="0"/>
              <a:t>Eventos con bloques de color según tipo de turno</a:t>
            </a:r>
          </a:p>
          <a:p>
            <a:pPr>
              <a:spcAft>
                <a:spcPts val="800"/>
              </a:spcAft>
              <a:defRPr sz="1600">
                <a:solidFill>
                  <a:srgbClr val="F9FAFB"/>
                </a:solidFill>
                <a:latin typeface="Calibri"/>
              </a:defRPr>
            </a:pPr>
            <a:r>
              <a:rPr lang="es-ES" noProof="0" dirty="0"/>
              <a:t>Soporte para eventos </a:t>
            </a:r>
            <a:r>
              <a:rPr lang="es-ES" noProof="0" dirty="0" err="1"/>
              <a:t>multi-día</a:t>
            </a:r>
            <a:endParaRPr lang="es-ES" noProof="0" dirty="0"/>
          </a:p>
          <a:p>
            <a:pPr>
              <a:spcAft>
                <a:spcPts val="800"/>
              </a:spcAft>
              <a:defRPr sz="1600">
                <a:solidFill>
                  <a:srgbClr val="F9FAFB"/>
                </a:solidFill>
                <a:latin typeface="Calibri"/>
              </a:defRPr>
            </a:pPr>
            <a:r>
              <a:rPr lang="es-ES" noProof="0" dirty="0"/>
              <a:t>Un turno por día: restricción inteligente para evitar conflictos</a:t>
            </a:r>
          </a:p>
          <a:p>
            <a:pPr>
              <a:spcAft>
                <a:spcPts val="800"/>
              </a:spcAft>
              <a:defRPr sz="1600">
                <a:solidFill>
                  <a:srgbClr val="F9FAFB"/>
                </a:solidFill>
                <a:latin typeface="Calibri"/>
              </a:defRPr>
            </a:pPr>
            <a:r>
              <a:rPr lang="es-ES" sz="1500" noProof="0" dirty="0">
                <a:solidFill>
                  <a:srgbClr val="F9FAFB"/>
                </a:solidFill>
                <a:latin typeface="Calibri"/>
              </a:rPr>
              <a:t>Eventos de serie vinculados: editar/eliminar uno o toda la serie futura</a:t>
            </a:r>
          </a:p>
          <a:p>
            <a:pPr>
              <a:spcAft>
                <a:spcPts val="800"/>
              </a:spcAft>
              <a:defRPr sz="1600">
                <a:solidFill>
                  <a:srgbClr val="F9FAFB"/>
                </a:solidFill>
                <a:latin typeface="Calibri"/>
              </a:defRPr>
            </a:pPr>
            <a:r>
              <a:rPr lang="es-ES" sz="1500" noProof="0" dirty="0">
                <a:solidFill>
                  <a:srgbClr val="F9FAFB"/>
                </a:solidFill>
                <a:latin typeface="Calibri"/>
              </a:rPr>
              <a:t>Generación automática de eventos recurrentes desde recordatorios con repetición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1241A815-676A-67E3-A95A-9DF5B65DD0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3209" y="1115322"/>
            <a:ext cx="2082310" cy="46273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rPr lang="es-ES" noProof="0" dirty="0"/>
              <a:t>Turnos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563EB"/>
                </a:solidFill>
                <a:latin typeface="Calibri"/>
              </a:defRPr>
            </a:pPr>
            <a:r>
              <a:rPr lang="es-ES" noProof="0" dirty="0"/>
              <a:t>Turnos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5029200" cy="1990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9FAFB"/>
                </a:solidFill>
                <a:latin typeface="Calibri"/>
              </a:defRPr>
            </a:pPr>
            <a:r>
              <a:rPr lang="es-ES" noProof="0" dirty="0"/>
              <a:t>Plantillas reutilizables con nombre, emoji y color</a:t>
            </a:r>
          </a:p>
          <a:p>
            <a:pPr>
              <a:spcAft>
                <a:spcPts val="800"/>
              </a:spcAft>
              <a:defRPr sz="1500">
                <a:solidFill>
                  <a:srgbClr val="F9FAFB"/>
                </a:solidFill>
                <a:latin typeface="Calibri"/>
              </a:defRPr>
            </a:pPr>
            <a:r>
              <a:rPr lang="es-ES" noProof="0" dirty="0"/>
              <a:t>Calculo automático de horas trabajadas</a:t>
            </a:r>
          </a:p>
          <a:p>
            <a:pPr>
              <a:spcAft>
                <a:spcPts val="800"/>
              </a:spcAft>
              <a:defRPr sz="1500">
                <a:solidFill>
                  <a:srgbClr val="F9FAFB"/>
                </a:solidFill>
                <a:latin typeface="Calibri"/>
              </a:defRPr>
            </a:pPr>
            <a:r>
              <a:rPr lang="es-ES" noProof="0" dirty="0"/>
              <a:t>Soporte para turnos de 24h y cruce de medianoche</a:t>
            </a:r>
          </a:p>
          <a:p>
            <a:pPr>
              <a:spcAft>
                <a:spcPts val="800"/>
              </a:spcAft>
              <a:defRPr sz="1500">
                <a:solidFill>
                  <a:srgbClr val="F9FAFB"/>
                </a:solidFill>
                <a:latin typeface="Calibri"/>
              </a:defRPr>
            </a:pPr>
            <a:r>
              <a:rPr lang="es-ES" noProof="0" dirty="0"/>
              <a:t>Activar/desactivar sin eliminar</a:t>
            </a:r>
          </a:p>
          <a:p>
            <a:pPr>
              <a:spcAft>
                <a:spcPts val="800"/>
              </a:spcAft>
              <a:defRPr sz="1500">
                <a:solidFill>
                  <a:srgbClr val="F9FAFB"/>
                </a:solidFill>
                <a:latin typeface="Calibri"/>
              </a:defRPr>
            </a:pPr>
            <a:r>
              <a:rPr lang="es-ES" noProof="0" dirty="0"/>
              <a:t>Paleta de 45 colores (9 familias x 5 tonos)</a:t>
            </a:r>
          </a:p>
          <a:p>
            <a:pPr>
              <a:spcAft>
                <a:spcPts val="800"/>
              </a:spcAft>
              <a:defRPr sz="1500">
                <a:solidFill>
                  <a:srgbClr val="F9FAFB"/>
                </a:solidFill>
                <a:latin typeface="Calibri"/>
              </a:defRPr>
            </a:pPr>
            <a:r>
              <a:rPr lang="es-ES" noProof="0" dirty="0"/>
              <a:t>Selector de emojis integrado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0289F8F0-3277-7161-1958-5C2A0465B5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3723" y="1267239"/>
            <a:ext cx="5634971" cy="439343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FC251E-E813-8A94-F7A9-3B9A4C696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604614C-6D1D-E7A6-3D07-3CEEAC21AF9C}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961368-285D-5A18-B252-8F3A06D586B8}"/>
              </a:ext>
            </a:extLst>
          </p:cNvPr>
          <p:cNvSpPr txBox="1"/>
          <p:nvPr/>
        </p:nvSpPr>
        <p:spPr>
          <a:xfrm>
            <a:off x="731520" y="457200"/>
            <a:ext cx="9144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rPr lang="es-ES" noProof="0" dirty="0"/>
              <a:t>Recordatorios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42D86C-CC28-E27A-41E4-B48918F0ADAF}"/>
              </a:ext>
            </a:extLst>
          </p:cNvPr>
          <p:cNvSpPr txBox="1"/>
          <p:nvPr/>
        </p:nvSpPr>
        <p:spPr>
          <a:xfrm>
            <a:off x="640080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7C3AED"/>
                </a:solidFill>
                <a:latin typeface="Calibri"/>
              </a:defRPr>
            </a:pPr>
            <a:r>
              <a:rPr lang="es-ES" noProof="0" dirty="0"/>
              <a:t>Recordatorios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36E485-7652-EDB2-8813-F39544E03F50}"/>
              </a:ext>
            </a:extLst>
          </p:cNvPr>
          <p:cNvSpPr txBox="1"/>
          <p:nvPr/>
        </p:nvSpPr>
        <p:spPr>
          <a:xfrm>
            <a:off x="6400800" y="1920240"/>
            <a:ext cx="5029200" cy="2887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9FAFB"/>
                </a:solidFill>
                <a:latin typeface="Calibri"/>
              </a:defRPr>
            </a:pPr>
            <a:r>
              <a:rPr lang="es-ES" noProof="0" dirty="0"/>
              <a:t>Plantillas para eventos recurrentes</a:t>
            </a:r>
          </a:p>
          <a:p>
            <a:pPr>
              <a:spcAft>
                <a:spcPts val="800"/>
              </a:spcAft>
              <a:defRPr sz="1500">
                <a:solidFill>
                  <a:srgbClr val="F9FAFB"/>
                </a:solidFill>
                <a:latin typeface="Calibri"/>
              </a:defRPr>
            </a:pPr>
            <a:r>
              <a:rPr lang="es-ES" noProof="0" dirty="0"/>
              <a:t>Personalizables con emoji y color</a:t>
            </a:r>
          </a:p>
          <a:p>
            <a:pPr>
              <a:spcAft>
                <a:spcPts val="800"/>
              </a:spcAft>
              <a:defRPr sz="1500">
                <a:solidFill>
                  <a:srgbClr val="F9FAFB"/>
                </a:solidFill>
                <a:latin typeface="Calibri"/>
              </a:defRPr>
            </a:pPr>
            <a:r>
              <a:rPr lang="es-ES" noProof="0" dirty="0"/>
              <a:t>Ideal para: reuniones, medicación, tareas</a:t>
            </a:r>
          </a:p>
          <a:p>
            <a:pPr>
              <a:spcAft>
                <a:spcPts val="800"/>
              </a:spcAft>
              <a:defRPr sz="1500">
                <a:solidFill>
                  <a:srgbClr val="F9FAFB"/>
                </a:solidFill>
                <a:latin typeface="Calibri"/>
              </a:defRPr>
            </a:pPr>
            <a:r>
              <a:rPr lang="es-ES" noProof="0" dirty="0"/>
              <a:t>Activar/desactivar según necesidad</a:t>
            </a:r>
          </a:p>
          <a:p>
            <a:pPr>
              <a:spcAft>
                <a:spcPts val="800"/>
              </a:spcAft>
              <a:defRPr sz="1500">
                <a:solidFill>
                  <a:srgbClr val="F9FAFB"/>
                </a:solidFill>
                <a:latin typeface="Calibri"/>
              </a:defRPr>
            </a:pPr>
            <a:r>
              <a:rPr lang="es-ES" noProof="0" dirty="0"/>
              <a:t>Sincronización </a:t>
            </a:r>
            <a:r>
              <a:rPr lang="es-ES" noProof="0" dirty="0" err="1"/>
              <a:t>multi-dispositivo</a:t>
            </a:r>
            <a:endParaRPr lang="es-ES" noProof="0" dirty="0"/>
          </a:p>
          <a:p>
            <a:pPr>
              <a:spcAft>
                <a:spcPts val="800"/>
              </a:spcAft>
              <a:defRPr sz="1500">
                <a:solidFill>
                  <a:srgbClr val="F9FAFB"/>
                </a:solidFill>
                <a:latin typeface="Calibri"/>
              </a:defRPr>
            </a:pPr>
            <a:r>
              <a:rPr lang="es-ES" noProof="0" dirty="0"/>
              <a:t>Vinculación directa con eventos del calendario</a:t>
            </a:r>
          </a:p>
          <a:p>
            <a:pPr>
              <a:spcAft>
                <a:spcPts val="800"/>
              </a:spcAft>
              <a:defRPr sz="1500">
                <a:solidFill>
                  <a:srgbClr val="F9FAFB"/>
                </a:solidFill>
                <a:latin typeface="Calibri"/>
              </a:defRPr>
            </a:pPr>
            <a:r>
              <a:rPr lang="es-ES" sz="1500" noProof="0" dirty="0">
                <a:solidFill>
                  <a:srgbClr val="F9FAFB"/>
                </a:solidFill>
                <a:latin typeface="Calibri"/>
              </a:rPr>
              <a:t>Series de repetición: semanal, mensual o anual</a:t>
            </a:r>
          </a:p>
          <a:p>
            <a:r>
              <a:rPr lang="es-ES" sz="1500" noProof="0" dirty="0">
                <a:solidFill>
                  <a:srgbClr val="F9FAFB"/>
                </a:solidFill>
                <a:latin typeface="Calibri"/>
              </a:rPr>
              <a:t>Etiqueta de frecuencia visible en la tarjeta del recordatorio</a:t>
            </a:r>
          </a:p>
          <a:p>
            <a:pPr>
              <a:spcAft>
                <a:spcPts val="800"/>
              </a:spcAft>
              <a:defRPr sz="1500">
                <a:solidFill>
                  <a:srgbClr val="F9FAFB"/>
                </a:solidFill>
                <a:latin typeface="Calibri"/>
              </a:defRPr>
            </a:pPr>
            <a:endParaRPr lang="es-ES" noProof="0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8CF00386-D37B-9266-1A59-C9E356A3D2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892" y="1447458"/>
            <a:ext cx="5425247" cy="4241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074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rPr lang="es-ES" noProof="0" dirty="0"/>
              <a:t>Informes y Estadísticas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CA3AF"/>
                </a:solidFill>
                <a:latin typeface="Calibri"/>
              </a:defRPr>
            </a:pPr>
            <a:r>
              <a:rPr lang="es-ES" noProof="0" dirty="0"/>
              <a:t>Visualiza tu productividad con gráficos claros y accionables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5486400" cy="243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9FAFB"/>
                </a:solidFill>
                <a:latin typeface="Calibri"/>
              </a:defRPr>
            </a:pPr>
            <a:r>
              <a:rPr lang="es-ES" noProof="0" dirty="0"/>
              <a:t>Horas trabajadas mes o año</a:t>
            </a:r>
          </a:p>
          <a:p>
            <a:pPr>
              <a:spcAft>
                <a:spcPts val="800"/>
              </a:spcAft>
              <a:defRPr sz="1600">
                <a:solidFill>
                  <a:srgbClr val="F9FAFB"/>
                </a:solidFill>
                <a:latin typeface="Calibri"/>
              </a:defRPr>
            </a:pPr>
            <a:r>
              <a:rPr lang="es-ES" noProof="0" dirty="0"/>
              <a:t>Gráficos de barras para distribución de horas</a:t>
            </a:r>
          </a:p>
          <a:p>
            <a:pPr>
              <a:spcAft>
                <a:spcPts val="800"/>
              </a:spcAft>
              <a:defRPr sz="1600">
                <a:solidFill>
                  <a:srgbClr val="F9FAFB"/>
                </a:solidFill>
                <a:latin typeface="Calibri"/>
              </a:defRPr>
            </a:pPr>
            <a:r>
              <a:rPr lang="es-ES" noProof="0" dirty="0"/>
              <a:t>Gráficos de dona para desglose por tipo de turno</a:t>
            </a:r>
          </a:p>
          <a:p>
            <a:pPr>
              <a:spcAft>
                <a:spcPts val="800"/>
              </a:spcAft>
              <a:defRPr sz="1600">
                <a:solidFill>
                  <a:srgbClr val="F9FAFB"/>
                </a:solidFill>
                <a:latin typeface="Calibri"/>
              </a:defRPr>
            </a:pPr>
            <a:r>
              <a:rPr lang="es-ES" noProof="0" dirty="0"/>
              <a:t>Configuración de objetivo anual de horas</a:t>
            </a:r>
          </a:p>
          <a:p>
            <a:pPr>
              <a:spcAft>
                <a:spcPts val="800"/>
              </a:spcAft>
              <a:defRPr sz="1600">
                <a:solidFill>
                  <a:srgbClr val="F9FAFB"/>
                </a:solidFill>
                <a:latin typeface="Calibri"/>
              </a:defRPr>
            </a:pPr>
            <a:r>
              <a:rPr lang="es-ES" noProof="0" dirty="0"/>
              <a:t>Actualización automática al crear/modificar eventos</a:t>
            </a:r>
          </a:p>
          <a:p>
            <a:pPr>
              <a:spcAft>
                <a:spcPts val="800"/>
              </a:spcAft>
              <a:defRPr sz="1600">
                <a:solidFill>
                  <a:srgbClr val="F9FAFB"/>
                </a:solidFill>
                <a:latin typeface="Calibri"/>
              </a:defRPr>
            </a:pPr>
            <a:r>
              <a:rPr lang="es-ES" noProof="0" dirty="0"/>
              <a:t>Filtros por periodo temporal</a:t>
            </a:r>
          </a:p>
          <a:p>
            <a:pPr>
              <a:spcAft>
                <a:spcPts val="800"/>
              </a:spcAft>
              <a:defRPr sz="1600">
                <a:solidFill>
                  <a:srgbClr val="F9FAFB"/>
                </a:solidFill>
                <a:latin typeface="Calibri"/>
              </a:defRPr>
            </a:pPr>
            <a:r>
              <a:rPr lang="es-ES" noProof="0" dirty="0"/>
              <a:t>Colores consistentes con la paleta de marca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F396413-21FC-8F65-9CC7-A8FE7D3973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5648" y="708967"/>
            <a:ext cx="2479029" cy="550895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D39527-4D1B-A980-3CD9-EC62B3550D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56D54D9-A496-84DE-A888-9234AFAC2BDB}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2D3E66-5C8B-D3C0-949D-B1DBE8B1A499}"/>
              </a:ext>
            </a:extLst>
          </p:cNvPr>
          <p:cNvSpPr txBox="1"/>
          <p:nvPr/>
        </p:nvSpPr>
        <p:spPr>
          <a:xfrm>
            <a:off x="731520" y="457200"/>
            <a:ext cx="9144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rPr lang="es-ES" sz="3600" b="1" noProof="0" dirty="0"/>
              <a:t>Modo Turno — Simplifica tu calendario</a:t>
            </a:r>
            <a:endParaRPr lang="es-ES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226B14-B6E7-1F51-7029-446D0CE730D5}"/>
              </a:ext>
            </a:extLst>
          </p:cNvPr>
          <p:cNvSpPr txBox="1"/>
          <p:nvPr/>
        </p:nvSpPr>
        <p:spPr>
          <a:xfrm>
            <a:off x="731520" y="1280160"/>
            <a:ext cx="10058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9CA3AF"/>
                </a:solidFill>
                <a:latin typeface="Calibri"/>
              </a:defRPr>
            </a:pPr>
            <a:r>
              <a:rPr lang="es-ES" i="1" noProof="0" dirty="0"/>
              <a:t>Un modo especializado para quienes gestionan turnos de trabajo</a:t>
            </a:r>
            <a:endParaRPr lang="es-ES" noProof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BAEE02-CD73-DC49-ED70-B0FEA491172B}"/>
              </a:ext>
            </a:extLst>
          </p:cNvPr>
          <p:cNvSpPr txBox="1"/>
          <p:nvPr/>
        </p:nvSpPr>
        <p:spPr>
          <a:xfrm>
            <a:off x="731519" y="2103120"/>
            <a:ext cx="10890637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noProof="0" dirty="0">
                <a:solidFill>
                  <a:srgbClr val="F9FAFB"/>
                </a:solidFill>
                <a:latin typeface="Calibri"/>
              </a:rPr>
              <a:t>🗓️ Solo vistas Mes y Año — Sin distracciones del Día y Semana</a:t>
            </a:r>
          </a:p>
          <a:p>
            <a:endParaRPr lang="es-ES" sz="1600" noProof="0" dirty="0">
              <a:solidFill>
                <a:srgbClr val="F9FAFB"/>
              </a:solidFill>
              <a:latin typeface="Calibri"/>
            </a:endParaRPr>
          </a:p>
          <a:p>
            <a:r>
              <a:rPr lang="es-ES" sz="1600" noProof="0" dirty="0">
                <a:solidFill>
                  <a:srgbClr val="F9FAFB"/>
                </a:solidFill>
                <a:latin typeface="Calibri"/>
              </a:rPr>
              <a:t>👆 Toca un día para actuar — Día vacío → crear evento. Día con turnos → ver y editar</a:t>
            </a:r>
          </a:p>
          <a:p>
            <a:endParaRPr lang="es-ES" sz="1600" noProof="0" dirty="0">
              <a:solidFill>
                <a:srgbClr val="F9FAFB"/>
              </a:solidFill>
              <a:latin typeface="Calibri"/>
            </a:endParaRPr>
          </a:p>
          <a:p>
            <a:r>
              <a:rPr lang="es-ES" sz="1600" noProof="0" dirty="0">
                <a:solidFill>
                  <a:srgbClr val="F9FAFB"/>
                </a:solidFill>
                <a:latin typeface="Calibri"/>
              </a:rPr>
              <a:t>📋 Modal de Acción del Día — Ve todos tus turnos y recordatorios de un vistazo, ordenados y con colores</a:t>
            </a:r>
          </a:p>
          <a:p>
            <a:endParaRPr lang="es-ES" sz="1600" noProof="0" dirty="0">
              <a:solidFill>
                <a:srgbClr val="F9FAFB"/>
              </a:solidFill>
              <a:latin typeface="Calibri"/>
            </a:endParaRPr>
          </a:p>
          <a:p>
            <a:r>
              <a:rPr lang="es-ES" sz="1600" noProof="0" dirty="0">
                <a:solidFill>
                  <a:srgbClr val="F9FAFB"/>
                </a:solidFill>
                <a:latin typeface="Calibri"/>
              </a:rPr>
              <a:t>⚡ Creación rápida — Un toque en cualquier día abre directamente el formulario con la fecha preseleccionada</a:t>
            </a:r>
          </a:p>
          <a:p>
            <a:endParaRPr lang="es-ES" sz="1600" noProof="0" dirty="0">
              <a:solidFill>
                <a:srgbClr val="F9FAFB"/>
              </a:solidFill>
              <a:latin typeface="Calibri"/>
            </a:endParaRPr>
          </a:p>
          <a:p>
            <a:r>
              <a:rPr lang="es-ES" sz="1600" noProof="0" dirty="0">
                <a:solidFill>
                  <a:srgbClr val="F9FAFB"/>
                </a:solidFill>
                <a:latin typeface="Calibri"/>
              </a:rPr>
              <a:t>🔄 Se sincroniza — La preferencia viaja entre tus dispositivos automáticamente</a:t>
            </a:r>
          </a:p>
          <a:p>
            <a:endParaRPr lang="es-ES" sz="1600" noProof="0" dirty="0">
              <a:solidFill>
                <a:srgbClr val="F9FAFB"/>
              </a:solidFill>
              <a:latin typeface="Calibri"/>
            </a:endParaRPr>
          </a:p>
          <a:p>
            <a:r>
              <a:rPr lang="es-ES" sz="1600" noProof="0" dirty="0">
                <a:solidFill>
                  <a:srgbClr val="F9FAFB"/>
                </a:solidFill>
                <a:latin typeface="Calibri"/>
              </a:rPr>
              <a:t>🌗 Actívalo cuando quieras — Un simple </a:t>
            </a:r>
            <a:r>
              <a:rPr lang="es-ES" sz="1600" noProof="0" dirty="0" err="1">
                <a:solidFill>
                  <a:srgbClr val="F9FAFB"/>
                </a:solidFill>
                <a:latin typeface="Calibri"/>
              </a:rPr>
              <a:t>toggle</a:t>
            </a:r>
            <a:r>
              <a:rPr lang="es-ES" sz="1600" noProof="0" dirty="0">
                <a:solidFill>
                  <a:srgbClr val="F9FAFB"/>
                </a:solidFill>
                <a:latin typeface="Calibri"/>
              </a:rPr>
              <a:t> en Ajustes, efecto inmediato, sin reiniciar</a:t>
            </a:r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545082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B8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rPr lang="es-ES" noProof="0" dirty="0"/>
              <a:t>Offline-First: Privacidad por </a:t>
            </a:r>
            <a:r>
              <a:rPr lang="es-ES" noProof="0" dirty="0" err="1"/>
              <a:t>Diseno</a:t>
            </a:r>
            <a:endParaRPr lang="es-ES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9FAFB"/>
                </a:solidFill>
                <a:latin typeface="Calibri"/>
              </a:defRPr>
            </a:pPr>
            <a:r>
              <a:rPr lang="es-ES" noProof="0" dirty="0"/>
              <a:t>Planixor funciona completamente sin internet. Tus datos nunca salen de tu dispositivo a menos que tu lo decidas.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B86D4"/>
                </a:solidFill>
                <a:latin typeface="Calibri"/>
              </a:defRPr>
            </a:pPr>
            <a:r>
              <a:rPr lang="es-ES" noProof="0" dirty="0"/>
              <a:t>Como funciona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108960"/>
            <a:ext cx="5029200" cy="165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9FAFB"/>
                </a:solidFill>
                <a:latin typeface="Calibri"/>
              </a:defRPr>
            </a:pPr>
            <a:r>
              <a:rPr lang="es-ES" noProof="0" dirty="0"/>
              <a:t>Web: datos en </a:t>
            </a:r>
            <a:r>
              <a:rPr lang="es-ES" noProof="0" dirty="0" err="1"/>
              <a:t>IndexedDB</a:t>
            </a:r>
            <a:r>
              <a:rPr lang="es-ES" noProof="0" dirty="0"/>
              <a:t> (navegador)</a:t>
            </a:r>
          </a:p>
          <a:p>
            <a:pPr>
              <a:spcAft>
                <a:spcPts val="800"/>
              </a:spcAft>
              <a:defRPr sz="1500">
                <a:solidFill>
                  <a:srgbClr val="F9FAFB"/>
                </a:solidFill>
                <a:latin typeface="Calibri"/>
              </a:defRPr>
            </a:pPr>
            <a:r>
              <a:rPr lang="es-ES" noProof="0" dirty="0"/>
              <a:t>Android: datos en SQLite (dispositivo)</a:t>
            </a:r>
          </a:p>
          <a:p>
            <a:pPr>
              <a:spcAft>
                <a:spcPts val="800"/>
              </a:spcAft>
              <a:defRPr sz="1500">
                <a:solidFill>
                  <a:srgbClr val="F9FAFB"/>
                </a:solidFill>
                <a:latin typeface="Calibri"/>
              </a:defRPr>
            </a:pPr>
            <a:r>
              <a:rPr lang="es-ES" noProof="0" dirty="0"/>
              <a:t>Sin cuenta, sin registro, sin servidor</a:t>
            </a:r>
          </a:p>
          <a:p>
            <a:pPr>
              <a:spcAft>
                <a:spcPts val="800"/>
              </a:spcAft>
              <a:defRPr sz="1500">
                <a:solidFill>
                  <a:srgbClr val="F9FAFB"/>
                </a:solidFill>
                <a:latin typeface="Calibri"/>
              </a:defRPr>
            </a:pPr>
            <a:r>
              <a:rPr lang="es-ES" noProof="0" dirty="0"/>
              <a:t>Funcionalidad completa sin conexión</a:t>
            </a:r>
          </a:p>
          <a:p>
            <a:pPr>
              <a:spcAft>
                <a:spcPts val="800"/>
              </a:spcAft>
              <a:defRPr sz="1500">
                <a:solidFill>
                  <a:srgbClr val="F9FAFB"/>
                </a:solidFill>
                <a:latin typeface="Calibri"/>
              </a:defRPr>
            </a:pPr>
            <a:r>
              <a:rPr lang="es-ES" noProof="0" dirty="0"/>
              <a:t>Tus datos = solo tuyos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560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  <a:latin typeface="Calibri"/>
              </a:defRPr>
            </a:pPr>
            <a:r>
              <a:rPr lang="es-ES" noProof="0" dirty="0"/>
              <a:t>Beneficios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3108960"/>
            <a:ext cx="5029200" cy="165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9FAFB"/>
                </a:solidFill>
                <a:latin typeface="Calibri"/>
              </a:defRPr>
            </a:pPr>
            <a:r>
              <a:rPr lang="es-ES" noProof="0" dirty="0"/>
              <a:t>Velocidad instantánea (sin latencia de red)</a:t>
            </a:r>
          </a:p>
          <a:p>
            <a:pPr>
              <a:spcAft>
                <a:spcPts val="800"/>
              </a:spcAft>
              <a:defRPr sz="1500">
                <a:solidFill>
                  <a:srgbClr val="F9FAFB"/>
                </a:solidFill>
                <a:latin typeface="Calibri"/>
              </a:defRPr>
            </a:pPr>
            <a:r>
              <a:rPr lang="es-ES" noProof="0" dirty="0"/>
              <a:t>Privacidad absoluta por defecto</a:t>
            </a:r>
          </a:p>
          <a:p>
            <a:pPr>
              <a:spcAft>
                <a:spcPts val="800"/>
              </a:spcAft>
              <a:defRPr sz="1500">
                <a:solidFill>
                  <a:srgbClr val="F9FAFB"/>
                </a:solidFill>
                <a:latin typeface="Calibri"/>
              </a:defRPr>
            </a:pPr>
            <a:r>
              <a:rPr lang="es-ES" noProof="0" dirty="0"/>
              <a:t>Funciona en aviones, metro, rural</a:t>
            </a:r>
          </a:p>
          <a:p>
            <a:pPr>
              <a:spcAft>
                <a:spcPts val="800"/>
              </a:spcAft>
              <a:defRPr sz="1500">
                <a:solidFill>
                  <a:srgbClr val="F9FAFB"/>
                </a:solidFill>
                <a:latin typeface="Calibri"/>
              </a:defRPr>
            </a:pPr>
            <a:r>
              <a:rPr lang="es-ES" noProof="0" dirty="0"/>
              <a:t>Sin costos de suscripción de nube</a:t>
            </a:r>
          </a:p>
          <a:p>
            <a:pPr>
              <a:spcAft>
                <a:spcPts val="800"/>
              </a:spcAft>
              <a:defRPr sz="1500">
                <a:solidFill>
                  <a:srgbClr val="F9FAFB"/>
                </a:solidFill>
                <a:latin typeface="Calibri"/>
              </a:defRPr>
            </a:pPr>
            <a:r>
              <a:rPr lang="es-ES" noProof="0" dirty="0"/>
              <a:t>Cumplimiento GDPR simplificado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rPr lang="es-ES" noProof="0" dirty="0"/>
              <a:t>Sincronización: Tu Servidor, Tus Reglas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CA3AF"/>
                </a:solidFill>
                <a:latin typeface="Calibri"/>
              </a:defRPr>
            </a:pPr>
            <a:r>
              <a:rPr lang="es-ES" noProof="0" dirty="0"/>
              <a:t>Sincronización bidireccional opcional con tu propio </a:t>
            </a:r>
            <a:r>
              <a:rPr lang="es-ES" noProof="0" dirty="0" err="1"/>
              <a:t>backend</a:t>
            </a:r>
            <a:r>
              <a:rPr lang="es-ES" noProof="0" dirty="0"/>
              <a:t> </a:t>
            </a:r>
            <a:r>
              <a:rPr lang="es-ES" noProof="0" dirty="0" err="1"/>
              <a:t>auto-hospedado</a:t>
            </a:r>
            <a:r>
              <a:rPr lang="es-ES" noProof="0" dirty="0"/>
              <a:t>. Sin terceros, sin suscripciones </a:t>
            </a:r>
            <a:r>
              <a:rPr lang="es-ES" noProof="0" dirty="0" err="1"/>
              <a:t>cloud</a:t>
            </a:r>
            <a:r>
              <a:rPr lang="es-ES" noProof="0" dirty="0"/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058400" cy="31290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9FAFB"/>
                </a:solidFill>
                <a:latin typeface="Calibri"/>
              </a:defRPr>
            </a:pPr>
            <a:r>
              <a:rPr lang="es-ES" noProof="0" dirty="0"/>
              <a:t>Sincronización bidireccional: </a:t>
            </a:r>
            <a:r>
              <a:rPr lang="es-ES" noProof="0" dirty="0" err="1"/>
              <a:t>push</a:t>
            </a:r>
            <a:r>
              <a:rPr lang="es-ES" noProof="0" dirty="0"/>
              <a:t> + </a:t>
            </a:r>
            <a:r>
              <a:rPr lang="es-ES" noProof="0" dirty="0" err="1"/>
              <a:t>pull</a:t>
            </a:r>
            <a:r>
              <a:rPr lang="es-ES" noProof="0" dirty="0"/>
              <a:t> en cada ciclo</a:t>
            </a:r>
          </a:p>
          <a:p>
            <a:pPr>
              <a:spcAft>
                <a:spcPts val="800"/>
              </a:spcAft>
              <a:defRPr sz="1600">
                <a:solidFill>
                  <a:srgbClr val="F9FAFB"/>
                </a:solidFill>
                <a:latin typeface="Calibri"/>
              </a:defRPr>
            </a:pPr>
            <a:r>
              <a:rPr lang="es-ES" noProof="0" dirty="0"/>
              <a:t>Intervalo configurable: 5, 10, 15, 20, 25, 30, 45 o 60 minutos</a:t>
            </a:r>
          </a:p>
          <a:p>
            <a:pPr>
              <a:spcAft>
                <a:spcPts val="800"/>
              </a:spcAft>
              <a:defRPr sz="1600">
                <a:solidFill>
                  <a:srgbClr val="F9FAFB"/>
                </a:solidFill>
                <a:latin typeface="Calibri"/>
              </a:defRPr>
            </a:pPr>
            <a:r>
              <a:rPr lang="es-ES" noProof="0" dirty="0" err="1"/>
              <a:t>Sync</a:t>
            </a:r>
            <a:r>
              <a:rPr lang="es-ES" noProof="0" dirty="0"/>
              <a:t> automático al abrir la app y al cerrarla</a:t>
            </a:r>
          </a:p>
          <a:p>
            <a:pPr>
              <a:spcAft>
                <a:spcPts val="800"/>
              </a:spcAft>
              <a:defRPr sz="1600">
                <a:solidFill>
                  <a:srgbClr val="F9FAFB"/>
                </a:solidFill>
                <a:latin typeface="Calibri"/>
              </a:defRPr>
            </a:pPr>
            <a:r>
              <a:rPr lang="es-ES" noProof="0" dirty="0"/>
              <a:t>Detección inteligente de conectividad</a:t>
            </a:r>
          </a:p>
          <a:p>
            <a:pPr>
              <a:spcAft>
                <a:spcPts val="800"/>
              </a:spcAft>
              <a:defRPr sz="1600">
                <a:solidFill>
                  <a:srgbClr val="F9FAFB"/>
                </a:solidFill>
                <a:latin typeface="Calibri"/>
              </a:defRPr>
            </a:pPr>
            <a:r>
              <a:rPr lang="es-ES" noProof="0" dirty="0" err="1"/>
              <a:t>Sync</a:t>
            </a:r>
            <a:r>
              <a:rPr lang="es-ES" noProof="0" dirty="0"/>
              <a:t> manual disponible en cualquier momento</a:t>
            </a:r>
          </a:p>
          <a:p>
            <a:pPr>
              <a:spcAft>
                <a:spcPts val="800"/>
              </a:spcAft>
              <a:defRPr sz="1600">
                <a:solidFill>
                  <a:srgbClr val="F9FAFB"/>
                </a:solidFill>
                <a:latin typeface="Calibri"/>
              </a:defRPr>
            </a:pPr>
            <a:r>
              <a:rPr lang="es-ES" noProof="0" dirty="0"/>
              <a:t>Resolución de conflictos: Last-Writer-Wins (LWW)</a:t>
            </a:r>
          </a:p>
          <a:p>
            <a:pPr>
              <a:spcAft>
                <a:spcPts val="800"/>
              </a:spcAft>
              <a:defRPr sz="1600">
                <a:solidFill>
                  <a:srgbClr val="F9FAFB"/>
                </a:solidFill>
                <a:latin typeface="Calibri"/>
              </a:defRPr>
            </a:pPr>
            <a:r>
              <a:rPr lang="es-ES" noProof="0" dirty="0"/>
              <a:t>Indicador de estado en tiempo real (Activo/Fallando/Pausado)</a:t>
            </a:r>
          </a:p>
          <a:p>
            <a:pPr>
              <a:spcAft>
                <a:spcPts val="800"/>
              </a:spcAft>
              <a:defRPr sz="1600">
                <a:solidFill>
                  <a:srgbClr val="F9FAFB"/>
                </a:solidFill>
                <a:latin typeface="Calibri"/>
              </a:defRPr>
            </a:pPr>
            <a:r>
              <a:rPr lang="es-ES" noProof="0" dirty="0" err="1"/>
              <a:t>Backend</a:t>
            </a:r>
            <a:r>
              <a:rPr lang="es-ES" noProof="0" dirty="0"/>
              <a:t> desplegable con Docker en minutos</a:t>
            </a:r>
          </a:p>
          <a:p>
            <a:pPr>
              <a:spcAft>
                <a:spcPts val="800"/>
              </a:spcAft>
              <a:defRPr sz="1600">
                <a:solidFill>
                  <a:srgbClr val="F9FAFB"/>
                </a:solidFill>
                <a:latin typeface="Calibri"/>
              </a:defRPr>
            </a:pPr>
            <a:r>
              <a:rPr lang="es-ES" noProof="0" dirty="0"/>
              <a:t>API </a:t>
            </a:r>
            <a:r>
              <a:rPr lang="es-ES" noProof="0" dirty="0" err="1"/>
              <a:t>key</a:t>
            </a:r>
            <a:r>
              <a:rPr lang="es-ES" noProof="0" dirty="0"/>
              <a:t> como única autenticación (simple y seguro)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E8F6630-22B8-2BF1-78FD-7265A5A741B8}"/>
              </a:ext>
            </a:extLst>
          </p:cNvPr>
          <p:cNvSpPr txBox="1"/>
          <p:nvPr/>
        </p:nvSpPr>
        <p:spPr>
          <a:xfrm>
            <a:off x="7565161" y="2689894"/>
            <a:ext cx="3224759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600" noProof="0" dirty="0"/>
              <a:t>🔄️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rPr lang="es-ES" noProof="0" dirty="0" err="1"/>
              <a:t>Backups</a:t>
            </a:r>
            <a:r>
              <a:rPr lang="es-ES" noProof="0" dirty="0"/>
              <a:t>: Tu Información Siempre Segura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CA3AF"/>
                </a:solidFill>
                <a:latin typeface="Calibri"/>
              </a:defRPr>
            </a:pPr>
            <a:r>
              <a:rPr lang="es-ES" noProof="0" dirty="0"/>
              <a:t>Exporta e importa todos tus datos sin depender de ningún servidor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058400" cy="243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9FAFB"/>
                </a:solidFill>
                <a:latin typeface="Calibri"/>
              </a:defRPr>
            </a:pPr>
            <a:r>
              <a:rPr lang="es-ES" noProof="0" dirty="0"/>
              <a:t>Exportación completa a archivo .</a:t>
            </a:r>
            <a:r>
              <a:rPr lang="es-ES" noProof="0" dirty="0" err="1"/>
              <a:t>bak</a:t>
            </a:r>
            <a:r>
              <a:rPr lang="es-ES" noProof="0" dirty="0"/>
              <a:t> (formato JSON portable)</a:t>
            </a:r>
          </a:p>
          <a:p>
            <a:pPr>
              <a:spcAft>
                <a:spcPts val="800"/>
              </a:spcAft>
              <a:defRPr sz="1600">
                <a:solidFill>
                  <a:srgbClr val="F9FAFB"/>
                </a:solidFill>
                <a:latin typeface="Calibri"/>
              </a:defRPr>
            </a:pPr>
            <a:r>
              <a:rPr lang="es-ES" noProof="0" dirty="0"/>
              <a:t>Incluye: eventos, turnos, recordatorios, notificaciones, configuración</a:t>
            </a:r>
          </a:p>
          <a:p>
            <a:pPr>
              <a:spcAft>
                <a:spcPts val="800"/>
              </a:spcAft>
              <a:defRPr sz="1600">
                <a:solidFill>
                  <a:srgbClr val="F9FAFB"/>
                </a:solidFill>
                <a:latin typeface="Calibri"/>
              </a:defRPr>
            </a:pPr>
            <a:r>
              <a:rPr lang="es-ES" noProof="0" dirty="0"/>
              <a:t>Restauración con </a:t>
            </a:r>
            <a:r>
              <a:rPr lang="es-ES" noProof="0" dirty="0" err="1"/>
              <a:t>merge</a:t>
            </a:r>
            <a:r>
              <a:rPr lang="es-ES" noProof="0" dirty="0"/>
              <a:t> inteligente (Last-Writer-Wins)</a:t>
            </a:r>
          </a:p>
          <a:p>
            <a:pPr>
              <a:spcAft>
                <a:spcPts val="800"/>
              </a:spcAft>
              <a:defRPr sz="1600">
                <a:solidFill>
                  <a:srgbClr val="F9FAFB"/>
                </a:solidFill>
                <a:latin typeface="Calibri"/>
              </a:defRPr>
            </a:pPr>
            <a:r>
              <a:rPr lang="es-ES" noProof="0" dirty="0"/>
              <a:t>Cross-</a:t>
            </a:r>
            <a:r>
              <a:rPr lang="es-ES" noProof="0" dirty="0" err="1"/>
              <a:t>platform</a:t>
            </a:r>
            <a:r>
              <a:rPr lang="es-ES" noProof="0" dirty="0"/>
              <a:t>: crea en web, restaura en Android (y viceversa)</a:t>
            </a:r>
          </a:p>
          <a:p>
            <a:pPr>
              <a:spcAft>
                <a:spcPts val="800"/>
              </a:spcAft>
              <a:defRPr sz="1600">
                <a:solidFill>
                  <a:srgbClr val="F9FAFB"/>
                </a:solidFill>
                <a:latin typeface="Calibri"/>
              </a:defRPr>
            </a:pPr>
            <a:r>
              <a:rPr lang="es-ES" noProof="0" dirty="0"/>
              <a:t>Sin </a:t>
            </a:r>
            <a:r>
              <a:rPr lang="es-ES" noProof="0" dirty="0" err="1"/>
              <a:t>backend</a:t>
            </a:r>
            <a:r>
              <a:rPr lang="es-ES" noProof="0" dirty="0"/>
              <a:t> necesario para </a:t>
            </a:r>
            <a:r>
              <a:rPr lang="es-ES" noProof="0" dirty="0" err="1"/>
              <a:t>backups</a:t>
            </a:r>
            <a:endParaRPr lang="es-ES" noProof="0" dirty="0"/>
          </a:p>
          <a:p>
            <a:pPr>
              <a:spcAft>
                <a:spcPts val="800"/>
              </a:spcAft>
              <a:defRPr sz="1600">
                <a:solidFill>
                  <a:srgbClr val="F9FAFB"/>
                </a:solidFill>
                <a:latin typeface="Calibri"/>
              </a:defRPr>
            </a:pPr>
            <a:r>
              <a:rPr lang="es-ES" noProof="0" dirty="0"/>
              <a:t>Dialogo de confirmación antes de sobrescribir datos existentes</a:t>
            </a:r>
          </a:p>
          <a:p>
            <a:pPr>
              <a:spcAft>
                <a:spcPts val="800"/>
              </a:spcAft>
              <a:defRPr sz="1600">
                <a:solidFill>
                  <a:srgbClr val="F9FAFB"/>
                </a:solidFill>
                <a:latin typeface="Calibri"/>
              </a:defRPr>
            </a:pPr>
            <a:r>
              <a:rPr lang="es-ES" noProof="0" dirty="0"/>
              <a:t>Accesible desde Ajustes &gt; </a:t>
            </a:r>
            <a:r>
              <a:rPr lang="es-ES" noProof="0" dirty="0" err="1"/>
              <a:t>Backups</a:t>
            </a:r>
            <a:endParaRPr lang="es-ES" noProof="0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42DB2274-427E-1EC9-0C79-C133B22C534E}"/>
              </a:ext>
            </a:extLst>
          </p:cNvPr>
          <p:cNvSpPr txBox="1"/>
          <p:nvPr/>
        </p:nvSpPr>
        <p:spPr>
          <a:xfrm>
            <a:off x="7540378" y="2425012"/>
            <a:ext cx="3106941" cy="26468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6600" noProof="0" dirty="0"/>
              <a:t>💾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rPr lang="es-ES" noProof="0" dirty="0"/>
              <a:t>Multiplataforma: Web + Android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563EB"/>
                </a:solidFill>
                <a:latin typeface="Calibri"/>
              </a:defRPr>
            </a:pPr>
            <a:r>
              <a:rPr lang="es-ES" noProof="0" dirty="0"/>
              <a:t>Web (PWA)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029200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9FAFB"/>
                </a:solidFill>
                <a:latin typeface="Calibri"/>
              </a:defRPr>
            </a:pPr>
            <a:r>
              <a:rPr lang="es-ES" noProof="0" dirty="0" err="1"/>
              <a:t>Progressive</a:t>
            </a:r>
            <a:r>
              <a:rPr lang="es-ES" noProof="0" dirty="0"/>
              <a:t> Web App instalable</a:t>
            </a:r>
          </a:p>
          <a:p>
            <a:pPr>
              <a:spcAft>
                <a:spcPts val="800"/>
              </a:spcAft>
              <a:defRPr sz="1400">
                <a:solidFill>
                  <a:srgbClr val="F9FAFB"/>
                </a:solidFill>
                <a:latin typeface="Calibri"/>
              </a:defRPr>
            </a:pPr>
            <a:r>
              <a:rPr lang="es-ES" noProof="0" dirty="0" err="1"/>
              <a:t>React</a:t>
            </a:r>
            <a:r>
              <a:rPr lang="es-ES" noProof="0" dirty="0"/>
              <a:t> 19 + </a:t>
            </a:r>
            <a:r>
              <a:rPr lang="es-ES" noProof="0" dirty="0" err="1"/>
              <a:t>TypeScript</a:t>
            </a:r>
            <a:r>
              <a:rPr lang="es-ES" noProof="0" dirty="0"/>
              <a:t> + Vite</a:t>
            </a:r>
          </a:p>
          <a:p>
            <a:pPr>
              <a:spcAft>
                <a:spcPts val="800"/>
              </a:spcAft>
              <a:defRPr sz="1400">
                <a:solidFill>
                  <a:srgbClr val="F9FAFB"/>
                </a:solidFill>
                <a:latin typeface="Calibri"/>
              </a:defRPr>
            </a:pPr>
            <a:r>
              <a:rPr lang="es-ES" noProof="0" dirty="0"/>
              <a:t>Funciona en cualquier navegador moderno</a:t>
            </a:r>
          </a:p>
          <a:p>
            <a:pPr>
              <a:spcAft>
                <a:spcPts val="800"/>
              </a:spcAft>
              <a:defRPr sz="1400">
                <a:solidFill>
                  <a:srgbClr val="F9FAFB"/>
                </a:solidFill>
                <a:latin typeface="Calibri"/>
              </a:defRPr>
            </a:pPr>
            <a:r>
              <a:rPr lang="es-ES" noProof="0" dirty="0"/>
              <a:t>Modo escritorio con </a:t>
            </a:r>
            <a:r>
              <a:rPr lang="es-ES" noProof="0" dirty="0" err="1"/>
              <a:t>sidebar</a:t>
            </a:r>
            <a:r>
              <a:rPr lang="es-ES" noProof="0" dirty="0"/>
              <a:t> de navegación</a:t>
            </a:r>
          </a:p>
          <a:p>
            <a:pPr>
              <a:spcAft>
                <a:spcPts val="800"/>
              </a:spcAft>
              <a:defRPr sz="1400">
                <a:solidFill>
                  <a:srgbClr val="F9FAFB"/>
                </a:solidFill>
                <a:latin typeface="Calibri"/>
              </a:defRPr>
            </a:pPr>
            <a:r>
              <a:rPr lang="es-ES" noProof="0" dirty="0"/>
              <a:t>Modo móvil con bottom </a:t>
            </a:r>
            <a:r>
              <a:rPr lang="es-ES" noProof="0" dirty="0" err="1"/>
              <a:t>navigation</a:t>
            </a:r>
            <a:endParaRPr lang="es-ES" noProof="0" dirty="0"/>
          </a:p>
          <a:p>
            <a:pPr>
              <a:spcAft>
                <a:spcPts val="800"/>
              </a:spcAft>
              <a:defRPr sz="1400">
                <a:solidFill>
                  <a:srgbClr val="F9FAFB"/>
                </a:solidFill>
                <a:latin typeface="Calibri"/>
              </a:defRPr>
            </a:pPr>
            <a:r>
              <a:rPr lang="es-ES" noProof="0" dirty="0" err="1"/>
              <a:t>IndexedDB</a:t>
            </a:r>
            <a:r>
              <a:rPr lang="es-ES" noProof="0" dirty="0"/>
              <a:t> para almacenamiento persistente</a:t>
            </a:r>
          </a:p>
          <a:p>
            <a:pPr>
              <a:spcAft>
                <a:spcPts val="800"/>
              </a:spcAft>
              <a:defRPr sz="1400">
                <a:solidFill>
                  <a:srgbClr val="F9FAFB"/>
                </a:solidFill>
                <a:latin typeface="Calibri"/>
              </a:defRPr>
            </a:pPr>
            <a:r>
              <a:rPr lang="es-ES" noProof="0" dirty="0"/>
              <a:t>Tema claro/oscuro + bilingüe ES/EN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0B981"/>
                </a:solidFill>
                <a:latin typeface="Calibri"/>
              </a:defRPr>
            </a:pPr>
            <a:r>
              <a:rPr lang="es-ES" noProof="0" dirty="0"/>
              <a:t>Android Nativo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9FAFB"/>
                </a:solidFill>
                <a:latin typeface="Calibri"/>
              </a:defRPr>
            </a:pPr>
            <a:r>
              <a:rPr lang="es-ES" noProof="0" dirty="0" err="1"/>
              <a:t>Kotlin</a:t>
            </a:r>
            <a:r>
              <a:rPr lang="es-ES" noProof="0" dirty="0"/>
              <a:t> + </a:t>
            </a:r>
            <a:r>
              <a:rPr lang="es-ES" noProof="0" dirty="0" err="1"/>
              <a:t>Jetpack</a:t>
            </a:r>
            <a:r>
              <a:rPr lang="es-ES" noProof="0" dirty="0"/>
              <a:t> </a:t>
            </a:r>
            <a:r>
              <a:rPr lang="es-ES" noProof="0" dirty="0" err="1"/>
              <a:t>Compose</a:t>
            </a:r>
            <a:endParaRPr lang="es-ES" noProof="0" dirty="0"/>
          </a:p>
          <a:p>
            <a:pPr>
              <a:spcAft>
                <a:spcPts val="800"/>
              </a:spcAft>
              <a:defRPr sz="1400">
                <a:solidFill>
                  <a:srgbClr val="F9FAFB"/>
                </a:solidFill>
                <a:latin typeface="Calibri"/>
              </a:defRPr>
            </a:pPr>
            <a:r>
              <a:rPr lang="es-ES" noProof="0" dirty="0"/>
              <a:t>Material </a:t>
            </a:r>
            <a:r>
              <a:rPr lang="es-ES" noProof="0" dirty="0" err="1"/>
              <a:t>Design</a:t>
            </a:r>
            <a:r>
              <a:rPr lang="es-ES" noProof="0" dirty="0"/>
              <a:t> 3</a:t>
            </a:r>
          </a:p>
          <a:p>
            <a:pPr>
              <a:spcAft>
                <a:spcPts val="800"/>
              </a:spcAft>
              <a:defRPr sz="1400">
                <a:solidFill>
                  <a:srgbClr val="F9FAFB"/>
                </a:solidFill>
                <a:latin typeface="Calibri"/>
              </a:defRPr>
            </a:pPr>
            <a:r>
              <a:rPr lang="es-ES" noProof="0" dirty="0"/>
              <a:t>SQLite + Room para persistencia</a:t>
            </a:r>
          </a:p>
          <a:p>
            <a:pPr>
              <a:spcAft>
                <a:spcPts val="800"/>
              </a:spcAft>
              <a:defRPr sz="1400">
                <a:solidFill>
                  <a:srgbClr val="F9FAFB"/>
                </a:solidFill>
                <a:latin typeface="Calibri"/>
              </a:defRPr>
            </a:pPr>
            <a:r>
              <a:rPr lang="es-ES" noProof="0" dirty="0"/>
              <a:t>Icono adaptativo con gradiente de marca</a:t>
            </a:r>
          </a:p>
          <a:p>
            <a:pPr>
              <a:spcAft>
                <a:spcPts val="800"/>
              </a:spcAft>
              <a:defRPr sz="1400">
                <a:solidFill>
                  <a:srgbClr val="F9FAFB"/>
                </a:solidFill>
                <a:latin typeface="Calibri"/>
              </a:defRPr>
            </a:pPr>
            <a:r>
              <a:rPr lang="es-ES" noProof="0" dirty="0"/>
              <a:t>Notificaciones </a:t>
            </a:r>
            <a:r>
              <a:rPr lang="es-ES" noProof="0" dirty="0" err="1"/>
              <a:t>push</a:t>
            </a:r>
            <a:r>
              <a:rPr lang="es-ES" noProof="0" dirty="0"/>
              <a:t> del sistema</a:t>
            </a:r>
          </a:p>
          <a:p>
            <a:pPr>
              <a:spcAft>
                <a:spcPts val="800"/>
              </a:spcAft>
              <a:defRPr sz="1400">
                <a:solidFill>
                  <a:srgbClr val="F9FAFB"/>
                </a:solidFill>
                <a:latin typeface="Calibri"/>
              </a:defRPr>
            </a:pPr>
            <a:r>
              <a:rPr lang="es-ES" noProof="0" dirty="0"/>
              <a:t>Cambio de tema e idioma sin reinicio</a:t>
            </a:r>
          </a:p>
          <a:p>
            <a:pPr>
              <a:spcAft>
                <a:spcPts val="800"/>
              </a:spcAft>
              <a:defRPr sz="1400">
                <a:solidFill>
                  <a:srgbClr val="F9FAFB"/>
                </a:solidFill>
                <a:latin typeface="Calibri"/>
              </a:defRPr>
            </a:pPr>
            <a:r>
              <a:rPr lang="es-ES" noProof="0" dirty="0"/>
              <a:t>Bottom </a:t>
            </a:r>
            <a:r>
              <a:rPr lang="es-ES" noProof="0" dirty="0" err="1"/>
              <a:t>navigation</a:t>
            </a:r>
            <a:r>
              <a:rPr lang="es-ES" noProof="0" dirty="0"/>
              <a:t> con iconos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rPr lang="es-ES" noProof="0" dirty="0"/>
              <a:t>Diseño Moderno y Accesible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05840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9FAFB"/>
                </a:solidFill>
                <a:latin typeface="Calibri"/>
              </a:defRPr>
            </a:pPr>
            <a:r>
              <a:rPr lang="es-ES" noProof="0" dirty="0"/>
              <a:t>Interfaz limpia y minimalista — sin distracciones</a:t>
            </a:r>
          </a:p>
          <a:p>
            <a:pPr>
              <a:spcAft>
                <a:spcPts val="800"/>
              </a:spcAft>
              <a:defRPr sz="1600">
                <a:solidFill>
                  <a:srgbClr val="F9FAFB"/>
                </a:solidFill>
                <a:latin typeface="Calibri"/>
              </a:defRPr>
            </a:pPr>
            <a:r>
              <a:rPr lang="es-ES" noProof="0" dirty="0"/>
              <a:t>Tipografía Poppins para máxima legibilidad</a:t>
            </a:r>
          </a:p>
          <a:p>
            <a:pPr>
              <a:spcAft>
                <a:spcPts val="800"/>
              </a:spcAft>
              <a:defRPr sz="1600">
                <a:solidFill>
                  <a:srgbClr val="F9FAFB"/>
                </a:solidFill>
                <a:latin typeface="Calibri"/>
              </a:defRPr>
            </a:pPr>
            <a:r>
              <a:rPr lang="es-ES" noProof="0" dirty="0"/>
              <a:t>Tema claro y oscuro (cambia al instante, sin reinicio)</a:t>
            </a:r>
          </a:p>
          <a:p>
            <a:pPr>
              <a:spcAft>
                <a:spcPts val="800"/>
              </a:spcAft>
              <a:defRPr sz="1600">
                <a:solidFill>
                  <a:srgbClr val="F9FAFB"/>
                </a:solidFill>
                <a:latin typeface="Calibri"/>
              </a:defRPr>
            </a:pPr>
            <a:r>
              <a:rPr lang="es-ES" noProof="0" dirty="0"/>
              <a:t>Paleta de colores consistente en ambas plataformas</a:t>
            </a:r>
          </a:p>
          <a:p>
            <a:pPr>
              <a:spcAft>
                <a:spcPts val="800"/>
              </a:spcAft>
              <a:defRPr sz="1600">
                <a:solidFill>
                  <a:srgbClr val="F9FAFB"/>
                </a:solidFill>
                <a:latin typeface="Calibri"/>
              </a:defRPr>
            </a:pPr>
            <a:r>
              <a:rPr lang="es-ES" noProof="0" dirty="0"/>
              <a:t>Gradiente azul-purpura como identidad visual</a:t>
            </a:r>
          </a:p>
          <a:p>
            <a:pPr>
              <a:spcAft>
                <a:spcPts val="800"/>
              </a:spcAft>
              <a:defRPr sz="1600">
                <a:solidFill>
                  <a:srgbClr val="F9FAFB"/>
                </a:solidFill>
                <a:latin typeface="Calibri"/>
              </a:defRPr>
            </a:pPr>
            <a:r>
              <a:rPr lang="es-ES" noProof="0" dirty="0"/>
              <a:t>Iconografía uniforme estilo </a:t>
            </a:r>
            <a:r>
              <a:rPr lang="es-ES" noProof="0" dirty="0" err="1"/>
              <a:t>outline</a:t>
            </a:r>
            <a:r>
              <a:rPr lang="es-ES" noProof="0" dirty="0"/>
              <a:t> (Lucide </a:t>
            </a:r>
            <a:r>
              <a:rPr lang="es-ES" noProof="0" dirty="0" err="1"/>
              <a:t>Icons</a:t>
            </a:r>
            <a:r>
              <a:rPr lang="es-ES" noProof="0" dirty="0"/>
              <a:t>)</a:t>
            </a:r>
          </a:p>
          <a:p>
            <a:pPr>
              <a:spcAft>
                <a:spcPts val="800"/>
              </a:spcAft>
              <a:defRPr sz="1600">
                <a:solidFill>
                  <a:srgbClr val="F9FAFB"/>
                </a:solidFill>
                <a:latin typeface="Calibri"/>
              </a:defRPr>
            </a:pPr>
            <a:r>
              <a:rPr lang="es-ES" noProof="0" dirty="0"/>
              <a:t>Accesibilidad: contraste WCAG AA, navegación por teclado</a:t>
            </a:r>
          </a:p>
          <a:p>
            <a:pPr>
              <a:spcAft>
                <a:spcPts val="800"/>
              </a:spcAft>
              <a:defRPr sz="1600">
                <a:solidFill>
                  <a:srgbClr val="F9FAFB"/>
                </a:solidFill>
                <a:latin typeface="Calibri"/>
              </a:defRPr>
            </a:pPr>
            <a:r>
              <a:rPr lang="es-ES" noProof="0" dirty="0"/>
              <a:t>Responsive: desktop, </a:t>
            </a:r>
            <a:r>
              <a:rPr lang="es-ES" noProof="0" dirty="0" err="1"/>
              <a:t>tablet</a:t>
            </a:r>
            <a:r>
              <a:rPr lang="es-ES" noProof="0" dirty="0"/>
              <a:t> y móvil</a:t>
            </a:r>
          </a:p>
          <a:p>
            <a:pPr>
              <a:spcAft>
                <a:spcPts val="800"/>
              </a:spcAft>
              <a:defRPr sz="1600">
                <a:solidFill>
                  <a:srgbClr val="F9FAFB"/>
                </a:solidFill>
                <a:latin typeface="Calibri"/>
              </a:defRPr>
            </a:pPr>
            <a:r>
              <a:rPr lang="es-ES" noProof="0" dirty="0"/>
              <a:t>Espaciado basado en sistema de 4px</a:t>
            </a:r>
          </a:p>
          <a:p>
            <a:pPr>
              <a:spcAft>
                <a:spcPts val="800"/>
              </a:spcAft>
              <a:defRPr sz="1600">
                <a:solidFill>
                  <a:srgbClr val="F9FAFB"/>
                </a:solidFill>
                <a:latin typeface="Calibri"/>
              </a:defRPr>
            </a:pPr>
            <a:r>
              <a:rPr lang="es-ES" noProof="0" dirty="0"/>
              <a:t>Tarjetas con indicador de color lateral por tipo de turno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AC33C55-F66B-9B5D-5562-AB4A3C5A0D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3850" y="1234435"/>
            <a:ext cx="3754809" cy="292752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E299E7E6-F3F1-CB38-97F1-3F9424C5CD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1835" y="2918495"/>
            <a:ext cx="1453779" cy="32306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B8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rPr lang="es-ES" noProof="0" dirty="0"/>
              <a:t>Notificaciones Inteligentes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CA3AF"/>
                </a:solidFill>
                <a:latin typeface="Calibri"/>
              </a:defRPr>
            </a:pPr>
            <a:r>
              <a:rPr lang="es-ES" noProof="0" dirty="0"/>
              <a:t>Nunca pierdas un turno o evento importante con alertas configurables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05840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9FAFB"/>
                </a:solidFill>
                <a:latin typeface="Calibri"/>
              </a:defRPr>
            </a:pPr>
            <a:r>
              <a:rPr lang="es-ES" noProof="0" dirty="0"/>
              <a:t>Alertas configurables por evento:</a:t>
            </a:r>
          </a:p>
          <a:p>
            <a:pPr>
              <a:spcAft>
                <a:spcPts val="800"/>
              </a:spcAft>
              <a:defRPr sz="1600">
                <a:solidFill>
                  <a:srgbClr val="F9FAFB"/>
                </a:solidFill>
                <a:latin typeface="Calibri"/>
              </a:defRPr>
            </a:pPr>
            <a:r>
              <a:rPr lang="es-ES" noProof="0" dirty="0"/>
              <a:t>    - Al inicio del evento</a:t>
            </a:r>
          </a:p>
          <a:p>
            <a:pPr>
              <a:spcAft>
                <a:spcPts val="800"/>
              </a:spcAft>
              <a:defRPr sz="1600">
                <a:solidFill>
                  <a:srgbClr val="F9FAFB"/>
                </a:solidFill>
                <a:latin typeface="Calibri"/>
              </a:defRPr>
            </a:pPr>
            <a:r>
              <a:rPr lang="es-ES" noProof="0" dirty="0"/>
              <a:t>    - 10 minutos antes</a:t>
            </a:r>
          </a:p>
          <a:p>
            <a:pPr>
              <a:spcAft>
                <a:spcPts val="800"/>
              </a:spcAft>
              <a:defRPr sz="1600">
                <a:solidFill>
                  <a:srgbClr val="F9FAFB"/>
                </a:solidFill>
                <a:latin typeface="Calibri"/>
              </a:defRPr>
            </a:pPr>
            <a:r>
              <a:rPr lang="es-ES" noProof="0" dirty="0"/>
              <a:t>    - 1 hora antes</a:t>
            </a:r>
          </a:p>
          <a:p>
            <a:pPr>
              <a:spcAft>
                <a:spcPts val="800"/>
              </a:spcAft>
              <a:defRPr sz="1600">
                <a:solidFill>
                  <a:srgbClr val="F9FAFB"/>
                </a:solidFill>
                <a:latin typeface="Calibri"/>
              </a:defRPr>
            </a:pPr>
            <a:r>
              <a:rPr lang="es-ES" noProof="0" dirty="0"/>
              <a:t>    - 1 día antes</a:t>
            </a:r>
          </a:p>
          <a:p>
            <a:pPr>
              <a:spcAft>
                <a:spcPts val="800"/>
              </a:spcAft>
              <a:defRPr sz="1600">
                <a:solidFill>
                  <a:srgbClr val="F9FAFB"/>
                </a:solidFill>
                <a:latin typeface="Calibri"/>
              </a:defRPr>
            </a:pPr>
            <a:r>
              <a:rPr lang="es-ES" noProof="0" dirty="0"/>
              <a:t>Canales: </a:t>
            </a:r>
            <a:r>
              <a:rPr lang="es-ES" noProof="0" dirty="0" err="1"/>
              <a:t>in-app</a:t>
            </a:r>
            <a:r>
              <a:rPr lang="es-ES" noProof="0" dirty="0"/>
              <a:t>, </a:t>
            </a:r>
            <a:r>
              <a:rPr lang="es-ES" noProof="0" dirty="0" err="1"/>
              <a:t>push</a:t>
            </a:r>
            <a:r>
              <a:rPr lang="es-ES" noProof="0" dirty="0"/>
              <a:t> del sistema, o ambos</a:t>
            </a:r>
          </a:p>
          <a:p>
            <a:pPr>
              <a:spcAft>
                <a:spcPts val="800"/>
              </a:spcAft>
              <a:defRPr sz="1600">
                <a:solidFill>
                  <a:srgbClr val="F9FAFB"/>
                </a:solidFill>
                <a:latin typeface="Calibri"/>
              </a:defRPr>
            </a:pPr>
            <a:r>
              <a:rPr lang="es-ES" noProof="0" dirty="0"/>
              <a:t>Centro de notificaciones accesible desde la campana (top bar)</a:t>
            </a:r>
          </a:p>
          <a:p>
            <a:pPr>
              <a:spcAft>
                <a:spcPts val="800"/>
              </a:spcAft>
              <a:defRPr sz="1600">
                <a:solidFill>
                  <a:srgbClr val="F9FAFB"/>
                </a:solidFill>
                <a:latin typeface="Calibri"/>
              </a:defRPr>
            </a:pPr>
            <a:r>
              <a:rPr lang="es-ES" noProof="0" dirty="0"/>
              <a:t>Marcar todas como leídas con un toque</a:t>
            </a:r>
          </a:p>
          <a:p>
            <a:pPr>
              <a:spcAft>
                <a:spcPts val="800"/>
              </a:spcAft>
              <a:defRPr sz="1600">
                <a:solidFill>
                  <a:srgbClr val="F9FAFB"/>
                </a:solidFill>
                <a:latin typeface="Calibri"/>
              </a:defRPr>
            </a:pPr>
            <a:r>
              <a:rPr lang="es-ES" noProof="0" dirty="0"/>
              <a:t>Limpieza automática de notificaciones pasadas</a:t>
            </a:r>
          </a:p>
          <a:p>
            <a:pPr>
              <a:spcAft>
                <a:spcPts val="800"/>
              </a:spcAft>
              <a:defRPr sz="1600">
                <a:solidFill>
                  <a:srgbClr val="F9FAFB"/>
                </a:solidFill>
                <a:latin typeface="Calibri"/>
              </a:defRPr>
            </a:pPr>
            <a:r>
              <a:rPr lang="es-ES" noProof="0" dirty="0"/>
              <a:t>Configuración global en Ajustes &gt; Notificaciones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31B27F47-B060-64EB-52FB-680436350FC4}"/>
              </a:ext>
            </a:extLst>
          </p:cNvPr>
          <p:cNvSpPr txBox="1"/>
          <p:nvPr/>
        </p:nvSpPr>
        <p:spPr>
          <a:xfrm>
            <a:off x="7491147" y="2414016"/>
            <a:ext cx="3106941" cy="26468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6600" noProof="0" dirty="0"/>
              <a:t>🔔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rPr lang="es-ES" noProof="0" dirty="0"/>
              <a:t>Personalizable a Tu Medida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058400" cy="2780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9FAFB"/>
                </a:solidFill>
                <a:latin typeface="Calibri"/>
              </a:defRPr>
            </a:pPr>
            <a:r>
              <a:rPr lang="es-ES" noProof="0" dirty="0"/>
              <a:t>Tema: Claro, Oscuro o Sistema (se aplica al instante)</a:t>
            </a:r>
          </a:p>
          <a:p>
            <a:pPr>
              <a:spcAft>
                <a:spcPts val="800"/>
              </a:spcAft>
              <a:defRPr sz="1600">
                <a:solidFill>
                  <a:srgbClr val="F9FAFB"/>
                </a:solidFill>
                <a:latin typeface="Calibri"/>
              </a:defRPr>
            </a:pPr>
            <a:r>
              <a:rPr lang="es-ES" noProof="0" dirty="0"/>
              <a:t>Idioma: Español / Ingles (cambio inmediato sin reinicio)</a:t>
            </a:r>
          </a:p>
          <a:p>
            <a:pPr>
              <a:spcAft>
                <a:spcPts val="800"/>
              </a:spcAft>
              <a:defRPr sz="1600">
                <a:solidFill>
                  <a:srgbClr val="F9FAFB"/>
                </a:solidFill>
                <a:latin typeface="Calibri"/>
              </a:defRPr>
            </a:pPr>
            <a:r>
              <a:rPr lang="es-ES" noProof="0" dirty="0"/>
              <a:t>Intervalo de sincronización personalizable (5-60 min)</a:t>
            </a:r>
          </a:p>
          <a:p>
            <a:pPr>
              <a:spcAft>
                <a:spcPts val="800"/>
              </a:spcAft>
              <a:defRPr sz="1600">
                <a:solidFill>
                  <a:srgbClr val="F9FAFB"/>
                </a:solidFill>
                <a:latin typeface="Calibri"/>
              </a:defRPr>
            </a:pPr>
            <a:r>
              <a:rPr lang="es-ES" noProof="0" dirty="0"/>
              <a:t>Configuración de canal de notificaciones</a:t>
            </a:r>
          </a:p>
          <a:p>
            <a:pPr>
              <a:spcAft>
                <a:spcPts val="800"/>
              </a:spcAft>
              <a:defRPr sz="1600">
                <a:solidFill>
                  <a:srgbClr val="F9FAFB"/>
                </a:solidFill>
                <a:latin typeface="Calibri"/>
              </a:defRPr>
            </a:pPr>
            <a:r>
              <a:rPr lang="es-ES" noProof="0" dirty="0"/>
              <a:t>Servidor de sincronización con URL personalizable</a:t>
            </a:r>
          </a:p>
          <a:p>
            <a:pPr>
              <a:spcAft>
                <a:spcPts val="800"/>
              </a:spcAft>
              <a:defRPr sz="1600">
                <a:solidFill>
                  <a:srgbClr val="F9FAFB"/>
                </a:solidFill>
                <a:latin typeface="Calibri"/>
              </a:defRPr>
            </a:pPr>
            <a:r>
              <a:rPr lang="es-ES" noProof="0" dirty="0" err="1"/>
              <a:t>Backups</a:t>
            </a:r>
            <a:r>
              <a:rPr lang="es-ES" noProof="0" dirty="0"/>
              <a:t> manuales y restauración</a:t>
            </a:r>
          </a:p>
          <a:p>
            <a:pPr>
              <a:spcAft>
                <a:spcPts val="800"/>
              </a:spcAft>
              <a:defRPr sz="1600">
                <a:solidFill>
                  <a:srgbClr val="F9FAFB"/>
                </a:solidFill>
                <a:latin typeface="Calibri"/>
              </a:defRPr>
            </a:pPr>
            <a:r>
              <a:rPr lang="es-ES" noProof="0" dirty="0" err="1"/>
              <a:t>Reset</a:t>
            </a:r>
            <a:r>
              <a:rPr lang="es-ES" noProof="0" dirty="0"/>
              <a:t> de aplicación (zona de peligro) para limpiar datos</a:t>
            </a:r>
          </a:p>
          <a:p>
            <a:pPr>
              <a:spcAft>
                <a:spcPts val="800"/>
              </a:spcAft>
              <a:defRPr sz="1600">
                <a:solidFill>
                  <a:srgbClr val="F9FAFB"/>
                </a:solidFill>
                <a:latin typeface="Calibri"/>
              </a:defRPr>
            </a:pPr>
            <a:r>
              <a:rPr lang="es-ES" noProof="0" dirty="0"/>
              <a:t>Todas las preferencias persisten localmente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938D4EC7-A2C0-EF42-2A5F-72F86EFD6B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0555" y="1238868"/>
            <a:ext cx="2159329" cy="479850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B8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rPr lang="es-ES" noProof="0" dirty="0"/>
              <a:t>Arquitectura y </a:t>
            </a:r>
            <a:r>
              <a:rPr lang="es-ES" noProof="0" dirty="0" err="1"/>
              <a:t>Tecnologia</a:t>
            </a:r>
            <a:endParaRPr lang="es-ES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563EB"/>
                </a:solidFill>
                <a:latin typeface="Calibri"/>
              </a:defRPr>
            </a:pPr>
            <a:r>
              <a:rPr lang="es-ES" noProof="0" dirty="0" err="1"/>
              <a:t>Backend</a:t>
            </a:r>
            <a:r>
              <a:rPr lang="es-ES" noProof="0" dirty="0"/>
              <a:t> (API)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9FAFB"/>
                </a:solidFill>
                <a:latin typeface="Calibri"/>
              </a:defRPr>
            </a:pPr>
            <a:r>
              <a:rPr lang="es-ES" noProof="0" dirty="0"/>
              <a:t>.NET 10 (C#)</a:t>
            </a:r>
          </a:p>
          <a:p>
            <a:pPr>
              <a:spcAft>
                <a:spcPts val="800"/>
              </a:spcAft>
              <a:defRPr sz="1400">
                <a:solidFill>
                  <a:srgbClr val="F9FAFB"/>
                </a:solidFill>
                <a:latin typeface="Calibri"/>
              </a:defRPr>
            </a:pPr>
            <a:r>
              <a:rPr lang="es-ES" noProof="0" dirty="0"/>
              <a:t>REST API + Docker</a:t>
            </a:r>
          </a:p>
          <a:p>
            <a:pPr>
              <a:spcAft>
                <a:spcPts val="800"/>
              </a:spcAft>
              <a:defRPr sz="1400">
                <a:solidFill>
                  <a:srgbClr val="F9FAFB"/>
                </a:solidFill>
                <a:latin typeface="Calibri"/>
              </a:defRPr>
            </a:pPr>
            <a:r>
              <a:rPr lang="es-ES" noProof="0" dirty="0"/>
              <a:t>MySQL / EF Core</a:t>
            </a:r>
          </a:p>
          <a:p>
            <a:pPr>
              <a:spcAft>
                <a:spcPts val="800"/>
              </a:spcAft>
              <a:defRPr sz="1400">
                <a:solidFill>
                  <a:srgbClr val="F9FAFB"/>
                </a:solidFill>
                <a:latin typeface="Calibri"/>
              </a:defRPr>
            </a:pPr>
            <a:r>
              <a:rPr lang="es-ES" noProof="0" dirty="0"/>
              <a:t>API Key </a:t>
            </a:r>
            <a:r>
              <a:rPr lang="es-ES" noProof="0" dirty="0" err="1"/>
              <a:t>auth</a:t>
            </a:r>
            <a:endParaRPr lang="es-ES" noProof="0" dirty="0"/>
          </a:p>
          <a:p>
            <a:pPr>
              <a:spcAft>
                <a:spcPts val="800"/>
              </a:spcAft>
              <a:defRPr sz="1400">
                <a:solidFill>
                  <a:srgbClr val="F9FAFB"/>
                </a:solidFill>
                <a:latin typeface="Calibri"/>
              </a:defRPr>
            </a:pPr>
            <a:r>
              <a:rPr lang="es-ES" noProof="0" dirty="0" err="1"/>
              <a:t>Auto-hospedable</a:t>
            </a:r>
            <a:endParaRPr lang="es-ES" noProof="0" dirty="0"/>
          </a:p>
        </p:txBody>
      </p:sp>
      <p:sp>
        <p:nvSpPr>
          <p:cNvPr id="6" name="TextBox 5"/>
          <p:cNvSpPr txBox="1"/>
          <p:nvPr/>
        </p:nvSpPr>
        <p:spPr>
          <a:xfrm>
            <a:off x="4389120" y="14630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C3AED"/>
                </a:solidFill>
                <a:latin typeface="Calibri"/>
              </a:defRPr>
            </a:pPr>
            <a:r>
              <a:rPr lang="es-ES" noProof="0" dirty="0"/>
              <a:t>Web (PWA)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201168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9FAFB"/>
                </a:solidFill>
                <a:latin typeface="Calibri"/>
              </a:defRPr>
            </a:pPr>
            <a:r>
              <a:rPr lang="es-ES" noProof="0" dirty="0" err="1"/>
              <a:t>React</a:t>
            </a:r>
            <a:r>
              <a:rPr lang="es-ES" noProof="0" dirty="0"/>
              <a:t> 19 + </a:t>
            </a:r>
            <a:r>
              <a:rPr lang="es-ES" noProof="0" dirty="0" err="1"/>
              <a:t>TypeScript</a:t>
            </a:r>
            <a:endParaRPr lang="es-ES" noProof="0" dirty="0"/>
          </a:p>
          <a:p>
            <a:pPr>
              <a:spcAft>
                <a:spcPts val="800"/>
              </a:spcAft>
              <a:defRPr sz="1400">
                <a:solidFill>
                  <a:srgbClr val="F9FAFB"/>
                </a:solidFill>
                <a:latin typeface="Calibri"/>
              </a:defRPr>
            </a:pPr>
            <a:r>
              <a:rPr lang="es-ES" noProof="0" dirty="0"/>
              <a:t>Vite + </a:t>
            </a:r>
            <a:r>
              <a:rPr lang="es-ES" noProof="0" dirty="0" err="1"/>
              <a:t>Tailwind</a:t>
            </a:r>
            <a:r>
              <a:rPr lang="es-ES" noProof="0" dirty="0"/>
              <a:t> CSS v4</a:t>
            </a:r>
          </a:p>
          <a:p>
            <a:pPr>
              <a:spcAft>
                <a:spcPts val="800"/>
              </a:spcAft>
              <a:defRPr sz="1400">
                <a:solidFill>
                  <a:srgbClr val="F9FAFB"/>
                </a:solidFill>
                <a:latin typeface="Calibri"/>
              </a:defRPr>
            </a:pPr>
            <a:r>
              <a:rPr lang="es-ES" noProof="0" dirty="0" err="1"/>
              <a:t>IndexedDB</a:t>
            </a:r>
            <a:r>
              <a:rPr lang="es-ES" noProof="0" dirty="0"/>
              <a:t> offline</a:t>
            </a:r>
          </a:p>
          <a:p>
            <a:pPr>
              <a:spcAft>
                <a:spcPts val="800"/>
              </a:spcAft>
              <a:defRPr sz="1400">
                <a:solidFill>
                  <a:srgbClr val="F9FAFB"/>
                </a:solidFill>
                <a:latin typeface="Calibri"/>
              </a:defRPr>
            </a:pPr>
            <a:r>
              <a:rPr lang="es-ES" noProof="0" dirty="0" err="1"/>
              <a:t>React</a:t>
            </a:r>
            <a:r>
              <a:rPr lang="es-ES" noProof="0" dirty="0"/>
              <a:t> </a:t>
            </a:r>
            <a:r>
              <a:rPr lang="es-ES" noProof="0" dirty="0" err="1"/>
              <a:t>Router</a:t>
            </a:r>
            <a:r>
              <a:rPr lang="es-ES" noProof="0" dirty="0"/>
              <a:t> + Query</a:t>
            </a:r>
          </a:p>
          <a:p>
            <a:pPr>
              <a:spcAft>
                <a:spcPts val="800"/>
              </a:spcAft>
              <a:defRPr sz="1400">
                <a:solidFill>
                  <a:srgbClr val="F9FAFB"/>
                </a:solidFill>
                <a:latin typeface="Calibri"/>
              </a:defRPr>
            </a:pPr>
            <a:r>
              <a:rPr lang="es-ES" noProof="0" dirty="0" err="1"/>
              <a:t>Vitest</a:t>
            </a:r>
            <a:r>
              <a:rPr lang="es-ES" noProof="0" dirty="0"/>
              <a:t> + </a:t>
            </a:r>
            <a:r>
              <a:rPr lang="es-ES" noProof="0" dirty="0" err="1"/>
              <a:t>Playwright</a:t>
            </a:r>
            <a:endParaRPr lang="es-ES" noProof="0" dirty="0"/>
          </a:p>
        </p:txBody>
      </p:sp>
      <p:sp>
        <p:nvSpPr>
          <p:cNvPr id="8" name="TextBox 7"/>
          <p:cNvSpPr txBox="1"/>
          <p:nvPr/>
        </p:nvSpPr>
        <p:spPr>
          <a:xfrm>
            <a:off x="8321040" y="14630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Calibri"/>
              </a:defRPr>
            </a:pPr>
            <a:r>
              <a:rPr lang="es-ES" noProof="0" dirty="0"/>
              <a:t>Android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201168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9FAFB"/>
                </a:solidFill>
                <a:latin typeface="Calibri"/>
              </a:defRPr>
            </a:pPr>
            <a:r>
              <a:rPr lang="es-ES" noProof="0" dirty="0" err="1"/>
              <a:t>Kotlin</a:t>
            </a:r>
            <a:r>
              <a:rPr lang="es-ES" noProof="0" dirty="0"/>
              <a:t> + </a:t>
            </a:r>
            <a:r>
              <a:rPr lang="es-ES" noProof="0" dirty="0" err="1"/>
              <a:t>Compose</a:t>
            </a:r>
            <a:endParaRPr lang="es-ES" noProof="0" dirty="0"/>
          </a:p>
          <a:p>
            <a:pPr>
              <a:spcAft>
                <a:spcPts val="800"/>
              </a:spcAft>
              <a:defRPr sz="1400">
                <a:solidFill>
                  <a:srgbClr val="F9FAFB"/>
                </a:solidFill>
                <a:latin typeface="Calibri"/>
              </a:defRPr>
            </a:pPr>
            <a:r>
              <a:rPr lang="es-ES" noProof="0" dirty="0"/>
              <a:t>Material </a:t>
            </a:r>
            <a:r>
              <a:rPr lang="es-ES" noProof="0" dirty="0" err="1"/>
              <a:t>Design</a:t>
            </a:r>
            <a:r>
              <a:rPr lang="es-ES" noProof="0" dirty="0"/>
              <a:t> 3</a:t>
            </a:r>
          </a:p>
          <a:p>
            <a:pPr>
              <a:spcAft>
                <a:spcPts val="800"/>
              </a:spcAft>
              <a:defRPr sz="1400">
                <a:solidFill>
                  <a:srgbClr val="F9FAFB"/>
                </a:solidFill>
                <a:latin typeface="Calibri"/>
              </a:defRPr>
            </a:pPr>
            <a:r>
              <a:rPr lang="es-ES" noProof="0" dirty="0"/>
              <a:t>Room (SQLite)</a:t>
            </a:r>
          </a:p>
          <a:p>
            <a:pPr>
              <a:spcAft>
                <a:spcPts val="800"/>
              </a:spcAft>
              <a:defRPr sz="1400">
                <a:solidFill>
                  <a:srgbClr val="F9FAFB"/>
                </a:solidFill>
                <a:latin typeface="Calibri"/>
              </a:defRPr>
            </a:pPr>
            <a:r>
              <a:rPr lang="es-ES" noProof="0" dirty="0" err="1"/>
              <a:t>Retrofit</a:t>
            </a:r>
            <a:r>
              <a:rPr lang="es-ES" noProof="0" dirty="0"/>
              <a:t> + </a:t>
            </a:r>
            <a:r>
              <a:rPr lang="es-ES" noProof="0" dirty="0" err="1"/>
              <a:t>OkHttp</a:t>
            </a:r>
            <a:endParaRPr lang="es-ES" noProof="0" dirty="0"/>
          </a:p>
          <a:p>
            <a:pPr>
              <a:spcAft>
                <a:spcPts val="800"/>
              </a:spcAft>
              <a:defRPr sz="1400">
                <a:solidFill>
                  <a:srgbClr val="F9FAFB"/>
                </a:solidFill>
                <a:latin typeface="Calibri"/>
              </a:defRPr>
            </a:pPr>
            <a:r>
              <a:rPr lang="es-ES" noProof="0" dirty="0" err="1"/>
              <a:t>DataStore</a:t>
            </a:r>
            <a:r>
              <a:rPr lang="es-ES" noProof="0" dirty="0"/>
              <a:t> </a:t>
            </a:r>
            <a:r>
              <a:rPr lang="es-ES" noProof="0" dirty="0" err="1"/>
              <a:t>prefs</a:t>
            </a:r>
            <a:endParaRPr lang="es-ES" noProof="0" dirty="0"/>
          </a:p>
        </p:txBody>
      </p:sp>
      <p:sp>
        <p:nvSpPr>
          <p:cNvPr id="10" name="TextBox 9"/>
          <p:cNvSpPr txBox="1"/>
          <p:nvPr/>
        </p:nvSpPr>
        <p:spPr>
          <a:xfrm>
            <a:off x="731520" y="5669280"/>
            <a:ext cx="10058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CA3AF"/>
                </a:solidFill>
                <a:latin typeface="Calibri"/>
              </a:defRPr>
            </a:pPr>
            <a:r>
              <a:rPr lang="es-ES" noProof="0" dirty="0"/>
              <a:t>Arquitectura offline-</a:t>
            </a:r>
            <a:r>
              <a:rPr lang="es-ES" noProof="0" dirty="0" err="1"/>
              <a:t>first</a:t>
            </a:r>
            <a:r>
              <a:rPr lang="es-ES" noProof="0" dirty="0"/>
              <a:t>: los clientes operan independientemente. El </a:t>
            </a:r>
            <a:r>
              <a:rPr lang="es-ES" noProof="0" dirty="0" err="1"/>
              <a:t>backend</a:t>
            </a:r>
            <a:r>
              <a:rPr lang="es-ES" noProof="0" dirty="0"/>
              <a:t> es solo un </a:t>
            </a:r>
            <a:r>
              <a:rPr lang="es-ES" noProof="0" dirty="0" err="1"/>
              <a:t>hub</a:t>
            </a:r>
            <a:r>
              <a:rPr lang="es-ES" noProof="0" dirty="0"/>
              <a:t> de sincronización opcional.</a:t>
            </a:r>
          </a:p>
        </p:txBody>
      </p:sp>
      <p:pic>
        <p:nvPicPr>
          <p:cNvPr id="11" name="Imagen 10" descr="Archivo:Microsoft .NET logo.png">
            <a:extLst>
              <a:ext uri="{FF2B5EF4-FFF2-40B4-BE49-F238E27FC236}">
                <a16:creationId xmlns:a16="http://schemas.microsoft.com/office/drawing/2014/main" id="{1B6B9DBE-F187-D333-1494-51359BAC60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417" y="3948731"/>
            <a:ext cx="1391077" cy="1391077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8466586A-82F1-84CA-BBEF-1E2EE5422F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3857" y="3948731"/>
            <a:ext cx="1429995" cy="1391462"/>
          </a:xfrm>
          <a:prstGeom prst="rect">
            <a:avLst/>
          </a:prstGeom>
        </p:spPr>
      </p:pic>
      <p:pic>
        <p:nvPicPr>
          <p:cNvPr id="14" name="Imagen 13" descr="Icono Android">
            <a:extLst>
              <a:ext uri="{FF2B5EF4-FFF2-40B4-BE49-F238E27FC236}">
                <a16:creationId xmlns:a16="http://schemas.microsoft.com/office/drawing/2014/main" id="{E31EC0D8-5393-9284-AE49-9DB828D419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5069" y="3948731"/>
            <a:ext cx="1391077" cy="139107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rPr lang="es-ES" noProof="0" dirty="0"/>
              <a:t>Para Quien es Planixor?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058400" cy="2646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9FAFB"/>
                </a:solidFill>
                <a:latin typeface="Calibri"/>
              </a:defRPr>
            </a:pPr>
            <a:r>
              <a:rPr lang="es-ES" noProof="0" dirty="0"/>
              <a:t>Profesionales con turnos rotativos (salud, seguridad, hostelería)</a:t>
            </a:r>
          </a:p>
          <a:p>
            <a:pPr>
              <a:spcAft>
                <a:spcPts val="800"/>
              </a:spcAft>
              <a:defRPr sz="1800">
                <a:solidFill>
                  <a:srgbClr val="F9FAFB"/>
                </a:solidFill>
                <a:latin typeface="Calibri"/>
              </a:defRPr>
            </a:pPr>
            <a:r>
              <a:rPr lang="es-ES" noProof="0" dirty="0" err="1"/>
              <a:t>Freelancers</a:t>
            </a:r>
            <a:r>
              <a:rPr lang="es-ES" noProof="0" dirty="0"/>
              <a:t> que necesitan control de horas trabajadas</a:t>
            </a:r>
          </a:p>
          <a:p>
            <a:pPr>
              <a:spcAft>
                <a:spcPts val="800"/>
              </a:spcAft>
              <a:defRPr sz="1800">
                <a:solidFill>
                  <a:srgbClr val="F9FAFB"/>
                </a:solidFill>
                <a:latin typeface="Calibri"/>
              </a:defRPr>
            </a:pPr>
            <a:r>
              <a:rPr lang="es-ES" noProof="0" dirty="0"/>
              <a:t>Equipos pequeños que comparten horarios</a:t>
            </a:r>
          </a:p>
          <a:p>
            <a:pPr>
              <a:spcAft>
                <a:spcPts val="800"/>
              </a:spcAft>
              <a:defRPr sz="1800">
                <a:solidFill>
                  <a:srgbClr val="F9FAFB"/>
                </a:solidFill>
                <a:latin typeface="Calibri"/>
              </a:defRPr>
            </a:pPr>
            <a:r>
              <a:rPr lang="es-ES" noProof="0" dirty="0"/>
              <a:t>Personas preocupadas por la privacidad de sus datos</a:t>
            </a:r>
          </a:p>
          <a:p>
            <a:pPr>
              <a:spcAft>
                <a:spcPts val="800"/>
              </a:spcAft>
              <a:defRPr sz="1800">
                <a:solidFill>
                  <a:srgbClr val="F9FAFB"/>
                </a:solidFill>
                <a:latin typeface="Calibri"/>
              </a:defRPr>
            </a:pPr>
            <a:r>
              <a:rPr lang="es-ES" noProof="0" dirty="0"/>
              <a:t>Usuarios en zonas con conectividad limitada</a:t>
            </a:r>
          </a:p>
          <a:p>
            <a:pPr>
              <a:spcAft>
                <a:spcPts val="800"/>
              </a:spcAft>
              <a:defRPr sz="1800">
                <a:solidFill>
                  <a:srgbClr val="F9FAFB"/>
                </a:solidFill>
                <a:latin typeface="Calibri"/>
              </a:defRPr>
            </a:pPr>
            <a:r>
              <a:rPr lang="es-ES" noProof="0" dirty="0"/>
              <a:t>Organizaciones que prefieren infraestructura propia (</a:t>
            </a:r>
            <a:r>
              <a:rPr lang="es-ES" noProof="0" dirty="0" err="1"/>
              <a:t>self-hosted</a:t>
            </a:r>
            <a:r>
              <a:rPr lang="es-ES" noProof="0" dirty="0"/>
              <a:t>)</a:t>
            </a:r>
          </a:p>
          <a:p>
            <a:pPr>
              <a:spcAft>
                <a:spcPts val="800"/>
              </a:spcAft>
              <a:defRPr sz="1800">
                <a:solidFill>
                  <a:srgbClr val="F9FAFB"/>
                </a:solidFill>
                <a:latin typeface="Calibri"/>
              </a:defRPr>
            </a:pPr>
            <a:r>
              <a:rPr lang="es-ES" noProof="0" dirty="0"/>
              <a:t>Cualquiera que quiera unificar turnos + calendario + recordatorios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3035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B86D4"/>
                </a:solidFill>
                <a:latin typeface="Calibri"/>
              </a:defRPr>
            </a:pPr>
            <a:r>
              <a:rPr lang="es-ES" noProof="0" dirty="0"/>
              <a:t>"Si trabajas por turnos y valoras tu privacidad, Planixor es tu herramienta."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6668AB1-26FD-6831-854A-E3938A8EF1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0" y="954995"/>
            <a:ext cx="164592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rPr lang="es-ES" noProof="0" dirty="0"/>
              <a:t>Ventajas Competitivas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  <a:latin typeface="Calibri"/>
              </a:defRPr>
            </a:pPr>
            <a:r>
              <a:rPr lang="es-ES" noProof="0" dirty="0"/>
              <a:t>Planixor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F4444"/>
                </a:solidFill>
                <a:latin typeface="Calibri"/>
              </a:defRPr>
            </a:pPr>
            <a:r>
              <a:rPr lang="es-ES" noProof="0" dirty="0"/>
              <a:t>Competencia </a:t>
            </a:r>
            <a:r>
              <a:rPr lang="es-ES" noProof="0" dirty="0" err="1"/>
              <a:t>tipica</a:t>
            </a:r>
            <a:endParaRPr lang="es-ES" noProof="0" dirty="0"/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5029200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9FAFB"/>
                </a:solidFill>
                <a:latin typeface="Calibri"/>
              </a:defRPr>
            </a:pPr>
            <a:r>
              <a:rPr lang="es-ES" noProof="0" dirty="0"/>
              <a:t>100% offline, sin dependencia de internet</a:t>
            </a:r>
          </a:p>
          <a:p>
            <a:pPr>
              <a:spcAft>
                <a:spcPts val="800"/>
              </a:spcAft>
              <a:defRPr sz="1400">
                <a:solidFill>
                  <a:srgbClr val="F9FAFB"/>
                </a:solidFill>
                <a:latin typeface="Calibri"/>
              </a:defRPr>
            </a:pPr>
            <a:r>
              <a:rPr lang="es-ES" noProof="0" dirty="0"/>
              <a:t>Datos solo en tu dispositivo</a:t>
            </a:r>
          </a:p>
          <a:p>
            <a:pPr>
              <a:spcAft>
                <a:spcPts val="800"/>
              </a:spcAft>
              <a:defRPr sz="1400">
                <a:solidFill>
                  <a:srgbClr val="F9FAFB"/>
                </a:solidFill>
                <a:latin typeface="Calibri"/>
              </a:defRPr>
            </a:pPr>
            <a:r>
              <a:rPr lang="es-ES" noProof="0" dirty="0" err="1"/>
              <a:t>Sync</a:t>
            </a:r>
            <a:r>
              <a:rPr lang="es-ES" noProof="0" dirty="0"/>
              <a:t> con TU servidor (</a:t>
            </a:r>
            <a:r>
              <a:rPr lang="es-ES" noProof="0" dirty="0" err="1"/>
              <a:t>self-hosted</a:t>
            </a:r>
            <a:r>
              <a:rPr lang="es-ES" noProof="0" dirty="0"/>
              <a:t>)</a:t>
            </a:r>
          </a:p>
          <a:p>
            <a:pPr>
              <a:spcAft>
                <a:spcPts val="800"/>
              </a:spcAft>
              <a:defRPr sz="1400">
                <a:solidFill>
                  <a:srgbClr val="F9FAFB"/>
                </a:solidFill>
                <a:latin typeface="Calibri"/>
              </a:defRPr>
            </a:pPr>
            <a:r>
              <a:rPr lang="es-ES" noProof="0" dirty="0"/>
              <a:t>Sin suscripción mensual para nube</a:t>
            </a:r>
          </a:p>
          <a:p>
            <a:pPr>
              <a:spcAft>
                <a:spcPts val="800"/>
              </a:spcAft>
              <a:defRPr sz="1400">
                <a:solidFill>
                  <a:srgbClr val="F9FAFB"/>
                </a:solidFill>
                <a:latin typeface="Calibri"/>
              </a:defRPr>
            </a:pPr>
            <a:r>
              <a:rPr lang="es-ES" noProof="0" dirty="0"/>
              <a:t>Código multiplataforma (web + Android)</a:t>
            </a:r>
          </a:p>
          <a:p>
            <a:pPr>
              <a:spcAft>
                <a:spcPts val="800"/>
              </a:spcAft>
              <a:defRPr sz="1400">
                <a:solidFill>
                  <a:srgbClr val="F9FAFB"/>
                </a:solidFill>
                <a:latin typeface="Calibri"/>
              </a:defRPr>
            </a:pPr>
            <a:r>
              <a:rPr lang="es-ES" noProof="0" dirty="0"/>
              <a:t>Open-</a:t>
            </a:r>
            <a:r>
              <a:rPr lang="es-ES" noProof="0" dirty="0" err="1"/>
              <a:t>source</a:t>
            </a:r>
            <a:r>
              <a:rPr lang="es-ES" noProof="0" dirty="0"/>
              <a:t> / </a:t>
            </a:r>
            <a:r>
              <a:rPr lang="es-ES" noProof="0" dirty="0" err="1"/>
              <a:t>auto-desplegable</a:t>
            </a:r>
            <a:endParaRPr lang="es-ES" noProof="0" dirty="0"/>
          </a:p>
          <a:p>
            <a:pPr>
              <a:spcAft>
                <a:spcPts val="800"/>
              </a:spcAft>
              <a:defRPr sz="1400">
                <a:solidFill>
                  <a:srgbClr val="F9FAFB"/>
                </a:solidFill>
                <a:latin typeface="Calibri"/>
              </a:defRPr>
            </a:pPr>
            <a:r>
              <a:rPr lang="es-ES" noProof="0" dirty="0"/>
              <a:t>Privacidad por diseño (GDPR </a:t>
            </a:r>
            <a:r>
              <a:rPr lang="es-ES" noProof="0" dirty="0" err="1"/>
              <a:t>friendly</a:t>
            </a:r>
            <a:r>
              <a:rPr lang="es-ES" noProof="0" dirty="0"/>
              <a:t>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920240"/>
            <a:ext cx="5029200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9CA3AF"/>
                </a:solidFill>
                <a:latin typeface="Calibri"/>
              </a:defRPr>
            </a:pPr>
            <a:r>
              <a:rPr lang="es-ES" noProof="0" dirty="0"/>
              <a:t>Requiere internet para funcionar</a:t>
            </a:r>
          </a:p>
          <a:p>
            <a:pPr>
              <a:spcAft>
                <a:spcPts val="800"/>
              </a:spcAft>
              <a:defRPr sz="1400">
                <a:solidFill>
                  <a:srgbClr val="9CA3AF"/>
                </a:solidFill>
                <a:latin typeface="Calibri"/>
              </a:defRPr>
            </a:pPr>
            <a:r>
              <a:rPr lang="es-ES" noProof="0" dirty="0"/>
              <a:t>Datos en servidores de terceros</a:t>
            </a:r>
          </a:p>
          <a:p>
            <a:pPr>
              <a:spcAft>
                <a:spcPts val="800"/>
              </a:spcAft>
              <a:defRPr sz="1400">
                <a:solidFill>
                  <a:srgbClr val="9CA3AF"/>
                </a:solidFill>
                <a:latin typeface="Calibri"/>
              </a:defRPr>
            </a:pPr>
            <a:r>
              <a:rPr lang="es-ES" noProof="0" dirty="0" err="1"/>
              <a:t>Sync</a:t>
            </a:r>
            <a:r>
              <a:rPr lang="es-ES" noProof="0" dirty="0"/>
              <a:t> con servidores del proveedor</a:t>
            </a:r>
          </a:p>
          <a:p>
            <a:pPr>
              <a:spcAft>
                <a:spcPts val="800"/>
              </a:spcAft>
              <a:defRPr sz="1400">
                <a:solidFill>
                  <a:srgbClr val="9CA3AF"/>
                </a:solidFill>
                <a:latin typeface="Calibri"/>
              </a:defRPr>
            </a:pPr>
            <a:r>
              <a:rPr lang="es-ES" noProof="0" dirty="0"/>
              <a:t>Suscripciones de $5-15/mes</a:t>
            </a:r>
          </a:p>
          <a:p>
            <a:pPr>
              <a:spcAft>
                <a:spcPts val="800"/>
              </a:spcAft>
              <a:defRPr sz="1400">
                <a:solidFill>
                  <a:srgbClr val="9CA3AF"/>
                </a:solidFill>
                <a:latin typeface="Calibri"/>
              </a:defRPr>
            </a:pPr>
            <a:r>
              <a:rPr lang="es-ES" noProof="0" dirty="0"/>
              <a:t>Solo una plataforma o web básica</a:t>
            </a:r>
          </a:p>
          <a:p>
            <a:pPr>
              <a:spcAft>
                <a:spcPts val="800"/>
              </a:spcAft>
              <a:defRPr sz="1400">
                <a:solidFill>
                  <a:srgbClr val="9CA3AF"/>
                </a:solidFill>
                <a:latin typeface="Calibri"/>
              </a:defRPr>
            </a:pPr>
            <a:r>
              <a:rPr lang="es-ES" noProof="0" dirty="0"/>
              <a:t>SaaS cerrado, sin control</a:t>
            </a:r>
          </a:p>
          <a:p>
            <a:pPr>
              <a:spcAft>
                <a:spcPts val="800"/>
              </a:spcAft>
              <a:defRPr sz="1400">
                <a:solidFill>
                  <a:srgbClr val="9CA3AF"/>
                </a:solidFill>
                <a:latin typeface="Calibri"/>
              </a:defRPr>
            </a:pPr>
            <a:r>
              <a:rPr lang="es-ES" noProof="0" dirty="0"/>
              <a:t>Políticas de privacidad ambiguas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4114800" y="137160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Calibri"/>
              </a:defRPr>
            </a:pPr>
            <a:r>
              <a:rPr lang="es-ES" noProof="0" dirty="0"/>
              <a:t>Planixor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2560320"/>
            <a:ext cx="7772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9CA3AF"/>
                </a:solidFill>
                <a:latin typeface="Calibri"/>
              </a:defRPr>
            </a:pPr>
            <a:r>
              <a:rPr lang="es-ES" noProof="0" dirty="0"/>
              <a:t>Organiza tu tiempo. Potencia tu día.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3657600"/>
            <a:ext cx="5760720" cy="10972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rPr lang="es-ES" noProof="0" dirty="0"/>
              <a:t>Comienza hoy — 100% gratis, 100% tuyo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5303520"/>
            <a:ext cx="7772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  <a:latin typeface="Calibri"/>
              </a:defRPr>
            </a:pPr>
            <a:r>
              <a:rPr lang="es-ES" noProof="0" dirty="0"/>
              <a:t>planixor.codenized.com  |  </a:t>
            </a:r>
            <a:r>
              <a:rPr lang="es-ES" noProof="0" dirty="0" err="1"/>
              <a:t>by</a:t>
            </a:r>
            <a:r>
              <a:rPr lang="es-ES" noProof="0" dirty="0"/>
              <a:t> </a:t>
            </a:r>
            <a:r>
              <a:rPr lang="es-ES" noProof="0" dirty="0" err="1"/>
              <a:t>Codenized</a:t>
            </a:r>
            <a:endParaRPr lang="es-ES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2286000" y="585216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  <a:latin typeface="Calibri"/>
              </a:defRPr>
            </a:pPr>
            <a:r>
              <a:rPr lang="es-ES" noProof="0" dirty="0"/>
              <a:t>Web (PWA) + Android  |  Offline-First  |  Self-</a:t>
            </a:r>
            <a:r>
              <a:rPr lang="es-ES" noProof="0" dirty="0" err="1"/>
              <a:t>Hosted</a:t>
            </a:r>
            <a:r>
              <a:rPr lang="es-ES" noProof="0" dirty="0"/>
              <a:t> </a:t>
            </a:r>
            <a:r>
              <a:rPr lang="es-ES" noProof="0" dirty="0" err="1"/>
              <a:t>Sync</a:t>
            </a:r>
            <a:endParaRPr lang="es-ES" noProof="0" dirty="0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B5CBB795-3A3F-87E5-18E3-1534BABFB5E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30742" y="1371600"/>
            <a:ext cx="885695" cy="88569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1414</Words>
  <Application>Microsoft Office PowerPoint</Application>
  <PresentationFormat>Panorámica</PresentationFormat>
  <Paragraphs>221</Paragraphs>
  <Slides>20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Ramon Garcia Alfonso</cp:lastModifiedBy>
  <cp:revision>12</cp:revision>
  <dcterms:created xsi:type="dcterms:W3CDTF">2013-01-27T09:14:16Z</dcterms:created>
  <dcterms:modified xsi:type="dcterms:W3CDTF">2026-07-07T06:12:09Z</dcterms:modified>
  <cp:category/>
</cp:coreProperties>
</file>